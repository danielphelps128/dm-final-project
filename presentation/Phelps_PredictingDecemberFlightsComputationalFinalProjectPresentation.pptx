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032270-B8E0-48EF-B67C-95EC394EC8B4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C937A2-416A-4EC6-A8FB-E264748C2B8C}">
      <dgm:prSet/>
      <dgm:spPr/>
      <dgm:t>
        <a:bodyPr/>
        <a:lstStyle/>
        <a:p>
          <a:r>
            <a:rPr lang="en-US"/>
            <a:t>Training on one December and testing on the next shows year-over-year generalization with meaningful ranking power. </a:t>
          </a:r>
        </a:p>
      </dgm:t>
    </dgm:pt>
    <dgm:pt modelId="{649D4888-E06C-45F3-BF3B-52FF3258901C}" type="parTrans" cxnId="{04159A61-590A-4630-A7A2-8F7CDC85D321}">
      <dgm:prSet/>
      <dgm:spPr/>
      <dgm:t>
        <a:bodyPr/>
        <a:lstStyle/>
        <a:p>
          <a:endParaRPr lang="en-US"/>
        </a:p>
      </dgm:t>
    </dgm:pt>
    <dgm:pt modelId="{7F6D21AD-BA15-49E7-86FF-4E176F8BB21C}" type="sibTrans" cxnId="{04159A61-590A-4630-A7A2-8F7CDC85D321}">
      <dgm:prSet/>
      <dgm:spPr/>
      <dgm:t>
        <a:bodyPr/>
        <a:lstStyle/>
        <a:p>
          <a:endParaRPr lang="en-US"/>
        </a:p>
      </dgm:t>
    </dgm:pt>
    <dgm:pt modelId="{50B94EEC-41B1-4B3E-83F2-A89EDF0BFAE1}">
      <dgm:prSet/>
      <dgm:spPr/>
      <dgm:t>
        <a:bodyPr/>
        <a:lstStyle/>
        <a:p>
          <a:r>
            <a:rPr lang="en-US" dirty="0"/>
            <a:t>These models are practical for top-risk flights for gate coordination or passenger messaging. </a:t>
          </a:r>
        </a:p>
      </dgm:t>
    </dgm:pt>
    <dgm:pt modelId="{2C0556ED-C509-4FAD-BD4B-46EE70F523BC}" type="parTrans" cxnId="{FA3AAD4A-F1D9-4321-97F3-AD0B0DF07BBB}">
      <dgm:prSet/>
      <dgm:spPr/>
      <dgm:t>
        <a:bodyPr/>
        <a:lstStyle/>
        <a:p>
          <a:endParaRPr lang="en-US"/>
        </a:p>
      </dgm:t>
    </dgm:pt>
    <dgm:pt modelId="{DB78B915-BBB4-47CF-985E-D20CEA575320}" type="sibTrans" cxnId="{FA3AAD4A-F1D9-4321-97F3-AD0B0DF07BBB}">
      <dgm:prSet/>
      <dgm:spPr/>
      <dgm:t>
        <a:bodyPr/>
        <a:lstStyle/>
        <a:p>
          <a:endParaRPr lang="en-US"/>
        </a:p>
      </dgm:t>
    </dgm:pt>
    <dgm:pt modelId="{BB5430E2-4FD3-4782-B29D-6ACD42713913}">
      <dgm:prSet/>
      <dgm:spPr/>
      <dgm:t>
        <a:bodyPr/>
        <a:lstStyle/>
        <a:p>
          <a:r>
            <a:rPr lang="en-US" dirty="0"/>
            <a:t>Future steps that should lift recall without overwhelming false alarms include adding weather and congestion features and setting thresholds by cost.</a:t>
          </a:r>
        </a:p>
      </dgm:t>
    </dgm:pt>
    <dgm:pt modelId="{F3CCDD9C-AC3A-45B6-BE31-AA2D6C7E2F19}" type="parTrans" cxnId="{47BFD546-916E-4F49-B8AF-668FFFB069B6}">
      <dgm:prSet/>
      <dgm:spPr/>
      <dgm:t>
        <a:bodyPr/>
        <a:lstStyle/>
        <a:p>
          <a:endParaRPr lang="en-US"/>
        </a:p>
      </dgm:t>
    </dgm:pt>
    <dgm:pt modelId="{6D6602A3-691C-4A5B-B6D1-507042C87C72}" type="sibTrans" cxnId="{47BFD546-916E-4F49-B8AF-668FFFB069B6}">
      <dgm:prSet/>
      <dgm:spPr/>
      <dgm:t>
        <a:bodyPr/>
        <a:lstStyle/>
        <a:p>
          <a:endParaRPr lang="en-US"/>
        </a:p>
      </dgm:t>
    </dgm:pt>
    <dgm:pt modelId="{329D5F92-7BA9-1047-9357-D43172D6CB02}" type="pres">
      <dgm:prSet presAssocID="{EF032270-B8E0-48EF-B67C-95EC394EC8B4}" presName="outerComposite" presStyleCnt="0">
        <dgm:presLayoutVars>
          <dgm:chMax val="5"/>
          <dgm:dir/>
          <dgm:resizeHandles val="exact"/>
        </dgm:presLayoutVars>
      </dgm:prSet>
      <dgm:spPr/>
    </dgm:pt>
    <dgm:pt modelId="{DB056530-DA0B-6847-A49C-811B12884D3E}" type="pres">
      <dgm:prSet presAssocID="{EF032270-B8E0-48EF-B67C-95EC394EC8B4}" presName="dummyMaxCanvas" presStyleCnt="0">
        <dgm:presLayoutVars/>
      </dgm:prSet>
      <dgm:spPr/>
    </dgm:pt>
    <dgm:pt modelId="{A0BA2940-54BC-1C41-8199-4F35D9A766EA}" type="pres">
      <dgm:prSet presAssocID="{EF032270-B8E0-48EF-B67C-95EC394EC8B4}" presName="ThreeNodes_1" presStyleLbl="node1" presStyleIdx="0" presStyleCnt="3">
        <dgm:presLayoutVars>
          <dgm:bulletEnabled val="1"/>
        </dgm:presLayoutVars>
      </dgm:prSet>
      <dgm:spPr/>
    </dgm:pt>
    <dgm:pt modelId="{2987CBC7-1A3E-D04D-A620-11388379B957}" type="pres">
      <dgm:prSet presAssocID="{EF032270-B8E0-48EF-B67C-95EC394EC8B4}" presName="ThreeNodes_2" presStyleLbl="node1" presStyleIdx="1" presStyleCnt="3">
        <dgm:presLayoutVars>
          <dgm:bulletEnabled val="1"/>
        </dgm:presLayoutVars>
      </dgm:prSet>
      <dgm:spPr/>
    </dgm:pt>
    <dgm:pt modelId="{15E9E3F7-34E0-3D40-B413-C3BFD1AF24F4}" type="pres">
      <dgm:prSet presAssocID="{EF032270-B8E0-48EF-B67C-95EC394EC8B4}" presName="ThreeNodes_3" presStyleLbl="node1" presStyleIdx="2" presStyleCnt="3">
        <dgm:presLayoutVars>
          <dgm:bulletEnabled val="1"/>
        </dgm:presLayoutVars>
      </dgm:prSet>
      <dgm:spPr/>
    </dgm:pt>
    <dgm:pt modelId="{C5CC73DF-B302-1246-9CD6-54E34DBC1162}" type="pres">
      <dgm:prSet presAssocID="{EF032270-B8E0-48EF-B67C-95EC394EC8B4}" presName="ThreeConn_1-2" presStyleLbl="fgAccFollowNode1" presStyleIdx="0" presStyleCnt="2">
        <dgm:presLayoutVars>
          <dgm:bulletEnabled val="1"/>
        </dgm:presLayoutVars>
      </dgm:prSet>
      <dgm:spPr/>
    </dgm:pt>
    <dgm:pt modelId="{EA9DC961-3596-7A4B-9305-2570392606DD}" type="pres">
      <dgm:prSet presAssocID="{EF032270-B8E0-48EF-B67C-95EC394EC8B4}" presName="ThreeConn_2-3" presStyleLbl="fgAccFollowNode1" presStyleIdx="1" presStyleCnt="2">
        <dgm:presLayoutVars>
          <dgm:bulletEnabled val="1"/>
        </dgm:presLayoutVars>
      </dgm:prSet>
      <dgm:spPr/>
    </dgm:pt>
    <dgm:pt modelId="{1A631B6C-6F4B-8B44-B5DD-5C194F5FFEE4}" type="pres">
      <dgm:prSet presAssocID="{EF032270-B8E0-48EF-B67C-95EC394EC8B4}" presName="ThreeNodes_1_text" presStyleLbl="node1" presStyleIdx="2" presStyleCnt="3">
        <dgm:presLayoutVars>
          <dgm:bulletEnabled val="1"/>
        </dgm:presLayoutVars>
      </dgm:prSet>
      <dgm:spPr/>
    </dgm:pt>
    <dgm:pt modelId="{57AE522C-C77E-5548-A458-A9527F7D6CBE}" type="pres">
      <dgm:prSet presAssocID="{EF032270-B8E0-48EF-B67C-95EC394EC8B4}" presName="ThreeNodes_2_text" presStyleLbl="node1" presStyleIdx="2" presStyleCnt="3">
        <dgm:presLayoutVars>
          <dgm:bulletEnabled val="1"/>
        </dgm:presLayoutVars>
      </dgm:prSet>
      <dgm:spPr/>
    </dgm:pt>
    <dgm:pt modelId="{46C56959-C65F-3647-8F8C-C23BD48EA42D}" type="pres">
      <dgm:prSet presAssocID="{EF032270-B8E0-48EF-B67C-95EC394EC8B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FA69112-CB46-AC41-9238-0BAF6688AF06}" type="presOf" srcId="{E0C937A2-416A-4EC6-A8FB-E264748C2B8C}" destId="{1A631B6C-6F4B-8B44-B5DD-5C194F5FFEE4}" srcOrd="1" destOrd="0" presId="urn:microsoft.com/office/officeart/2005/8/layout/vProcess5"/>
    <dgm:cxn modelId="{EEF94714-C7B8-3745-B11F-0888AFF49D15}" type="presOf" srcId="{E0C937A2-416A-4EC6-A8FB-E264748C2B8C}" destId="{A0BA2940-54BC-1C41-8199-4F35D9A766EA}" srcOrd="0" destOrd="0" presId="urn:microsoft.com/office/officeart/2005/8/layout/vProcess5"/>
    <dgm:cxn modelId="{5451BB3B-3B90-C44E-8C95-5EF3C971FF47}" type="presOf" srcId="{BB5430E2-4FD3-4782-B29D-6ACD42713913}" destId="{15E9E3F7-34E0-3D40-B413-C3BFD1AF24F4}" srcOrd="0" destOrd="0" presId="urn:microsoft.com/office/officeart/2005/8/layout/vProcess5"/>
    <dgm:cxn modelId="{47BFD546-916E-4F49-B8AF-668FFFB069B6}" srcId="{EF032270-B8E0-48EF-B67C-95EC394EC8B4}" destId="{BB5430E2-4FD3-4782-B29D-6ACD42713913}" srcOrd="2" destOrd="0" parTransId="{F3CCDD9C-AC3A-45B6-BE31-AA2D6C7E2F19}" sibTransId="{6D6602A3-691C-4A5B-B6D1-507042C87C72}"/>
    <dgm:cxn modelId="{FA3AAD4A-F1D9-4321-97F3-AD0B0DF07BBB}" srcId="{EF032270-B8E0-48EF-B67C-95EC394EC8B4}" destId="{50B94EEC-41B1-4B3E-83F2-A89EDF0BFAE1}" srcOrd="1" destOrd="0" parTransId="{2C0556ED-C509-4FAD-BD4B-46EE70F523BC}" sibTransId="{DB78B915-BBB4-47CF-985E-D20CEA575320}"/>
    <dgm:cxn modelId="{8CA8F156-9A38-404D-8BB3-6469F3F6744F}" type="presOf" srcId="{BB5430E2-4FD3-4782-B29D-6ACD42713913}" destId="{46C56959-C65F-3647-8F8C-C23BD48EA42D}" srcOrd="1" destOrd="0" presId="urn:microsoft.com/office/officeart/2005/8/layout/vProcess5"/>
    <dgm:cxn modelId="{04159A61-590A-4630-A7A2-8F7CDC85D321}" srcId="{EF032270-B8E0-48EF-B67C-95EC394EC8B4}" destId="{E0C937A2-416A-4EC6-A8FB-E264748C2B8C}" srcOrd="0" destOrd="0" parTransId="{649D4888-E06C-45F3-BF3B-52FF3258901C}" sibTransId="{7F6D21AD-BA15-49E7-86FF-4E176F8BB21C}"/>
    <dgm:cxn modelId="{D8691373-D038-F146-8C3D-632CBFF419BB}" type="presOf" srcId="{50B94EEC-41B1-4B3E-83F2-A89EDF0BFAE1}" destId="{2987CBC7-1A3E-D04D-A620-11388379B957}" srcOrd="0" destOrd="0" presId="urn:microsoft.com/office/officeart/2005/8/layout/vProcess5"/>
    <dgm:cxn modelId="{F12D42A2-C7D9-424A-952E-884A65A65C98}" type="presOf" srcId="{EF032270-B8E0-48EF-B67C-95EC394EC8B4}" destId="{329D5F92-7BA9-1047-9357-D43172D6CB02}" srcOrd="0" destOrd="0" presId="urn:microsoft.com/office/officeart/2005/8/layout/vProcess5"/>
    <dgm:cxn modelId="{A8CBEFBD-DF93-FE4A-AC31-4240F2F94AEC}" type="presOf" srcId="{DB78B915-BBB4-47CF-985E-D20CEA575320}" destId="{EA9DC961-3596-7A4B-9305-2570392606DD}" srcOrd="0" destOrd="0" presId="urn:microsoft.com/office/officeart/2005/8/layout/vProcess5"/>
    <dgm:cxn modelId="{5E6442C3-EC3A-1949-8773-577D8719D9D0}" type="presOf" srcId="{7F6D21AD-BA15-49E7-86FF-4E176F8BB21C}" destId="{C5CC73DF-B302-1246-9CD6-54E34DBC1162}" srcOrd="0" destOrd="0" presId="urn:microsoft.com/office/officeart/2005/8/layout/vProcess5"/>
    <dgm:cxn modelId="{01504AEE-47C8-4141-827A-2D1EBE4E0040}" type="presOf" srcId="{50B94EEC-41B1-4B3E-83F2-A89EDF0BFAE1}" destId="{57AE522C-C77E-5548-A458-A9527F7D6CBE}" srcOrd="1" destOrd="0" presId="urn:microsoft.com/office/officeart/2005/8/layout/vProcess5"/>
    <dgm:cxn modelId="{E29C663E-0880-5942-ABD3-F310F748E979}" type="presParOf" srcId="{329D5F92-7BA9-1047-9357-D43172D6CB02}" destId="{DB056530-DA0B-6847-A49C-811B12884D3E}" srcOrd="0" destOrd="0" presId="urn:microsoft.com/office/officeart/2005/8/layout/vProcess5"/>
    <dgm:cxn modelId="{F8E223AB-BBB1-9848-8380-980B369EE2CC}" type="presParOf" srcId="{329D5F92-7BA9-1047-9357-D43172D6CB02}" destId="{A0BA2940-54BC-1C41-8199-4F35D9A766EA}" srcOrd="1" destOrd="0" presId="urn:microsoft.com/office/officeart/2005/8/layout/vProcess5"/>
    <dgm:cxn modelId="{689252E3-F674-D248-998E-F7CE44CED32C}" type="presParOf" srcId="{329D5F92-7BA9-1047-9357-D43172D6CB02}" destId="{2987CBC7-1A3E-D04D-A620-11388379B957}" srcOrd="2" destOrd="0" presId="urn:microsoft.com/office/officeart/2005/8/layout/vProcess5"/>
    <dgm:cxn modelId="{6C35FB50-1824-C047-93A1-3C84C850C4C5}" type="presParOf" srcId="{329D5F92-7BA9-1047-9357-D43172D6CB02}" destId="{15E9E3F7-34E0-3D40-B413-C3BFD1AF24F4}" srcOrd="3" destOrd="0" presId="urn:microsoft.com/office/officeart/2005/8/layout/vProcess5"/>
    <dgm:cxn modelId="{ECF8539F-E21C-BB4B-ACBE-E8620B8581F0}" type="presParOf" srcId="{329D5F92-7BA9-1047-9357-D43172D6CB02}" destId="{C5CC73DF-B302-1246-9CD6-54E34DBC1162}" srcOrd="4" destOrd="0" presId="urn:microsoft.com/office/officeart/2005/8/layout/vProcess5"/>
    <dgm:cxn modelId="{6EF5C6F2-274C-8742-A3FD-C8677F112D68}" type="presParOf" srcId="{329D5F92-7BA9-1047-9357-D43172D6CB02}" destId="{EA9DC961-3596-7A4B-9305-2570392606DD}" srcOrd="5" destOrd="0" presId="urn:microsoft.com/office/officeart/2005/8/layout/vProcess5"/>
    <dgm:cxn modelId="{E1324693-0497-624C-98A3-6FB290ED3D54}" type="presParOf" srcId="{329D5F92-7BA9-1047-9357-D43172D6CB02}" destId="{1A631B6C-6F4B-8B44-B5DD-5C194F5FFEE4}" srcOrd="6" destOrd="0" presId="urn:microsoft.com/office/officeart/2005/8/layout/vProcess5"/>
    <dgm:cxn modelId="{F0F6CF03-66C9-ED4E-973C-19C3B66DE7F3}" type="presParOf" srcId="{329D5F92-7BA9-1047-9357-D43172D6CB02}" destId="{57AE522C-C77E-5548-A458-A9527F7D6CBE}" srcOrd="7" destOrd="0" presId="urn:microsoft.com/office/officeart/2005/8/layout/vProcess5"/>
    <dgm:cxn modelId="{5A7D3235-FB8A-9545-B58A-A56E61EF9224}" type="presParOf" srcId="{329D5F92-7BA9-1047-9357-D43172D6CB02}" destId="{46C56959-C65F-3647-8F8C-C23BD48EA42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A2940-54BC-1C41-8199-4F35D9A766EA}">
      <dsp:nvSpPr>
        <dsp:cNvPr id="0" name=""/>
        <dsp:cNvSpPr/>
      </dsp:nvSpPr>
      <dsp:spPr>
        <a:xfrm>
          <a:off x="0" y="0"/>
          <a:ext cx="8420099" cy="10754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Training on one December and testing on the next shows year-over-year generalization with meaningful ranking power. </a:t>
          </a:r>
        </a:p>
      </dsp:txBody>
      <dsp:txXfrm>
        <a:off x="31499" y="31499"/>
        <a:ext cx="7259599" cy="1012457"/>
      </dsp:txXfrm>
    </dsp:sp>
    <dsp:sp modelId="{2987CBC7-1A3E-D04D-A620-11388379B957}">
      <dsp:nvSpPr>
        <dsp:cNvPr id="0" name=""/>
        <dsp:cNvSpPr/>
      </dsp:nvSpPr>
      <dsp:spPr>
        <a:xfrm>
          <a:off x="742949" y="1254697"/>
          <a:ext cx="8420099" cy="10754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These models are practical for top-risk flights for gate coordination or passenger messaging. </a:t>
          </a:r>
        </a:p>
      </dsp:txBody>
      <dsp:txXfrm>
        <a:off x="774448" y="1286196"/>
        <a:ext cx="6915105" cy="1012456"/>
      </dsp:txXfrm>
    </dsp:sp>
    <dsp:sp modelId="{15E9E3F7-34E0-3D40-B413-C3BFD1AF24F4}">
      <dsp:nvSpPr>
        <dsp:cNvPr id="0" name=""/>
        <dsp:cNvSpPr/>
      </dsp:nvSpPr>
      <dsp:spPr>
        <a:xfrm>
          <a:off x="1485899" y="2509395"/>
          <a:ext cx="8420099" cy="10754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Future steps that should lift recall without overwhelming false alarms include adding weather and congestion features and setting thresholds by cost.</a:t>
          </a:r>
        </a:p>
      </dsp:txBody>
      <dsp:txXfrm>
        <a:off x="1517398" y="2540894"/>
        <a:ext cx="6915105" cy="1012457"/>
      </dsp:txXfrm>
    </dsp:sp>
    <dsp:sp modelId="{C5CC73DF-B302-1246-9CD6-54E34DBC1162}">
      <dsp:nvSpPr>
        <dsp:cNvPr id="0" name=""/>
        <dsp:cNvSpPr/>
      </dsp:nvSpPr>
      <dsp:spPr>
        <a:xfrm>
          <a:off x="7721053" y="815553"/>
          <a:ext cx="699045" cy="699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7878338" y="815553"/>
        <a:ext cx="384475" cy="526031"/>
      </dsp:txXfrm>
    </dsp:sp>
    <dsp:sp modelId="{EA9DC961-3596-7A4B-9305-2570392606DD}">
      <dsp:nvSpPr>
        <dsp:cNvPr id="0" name=""/>
        <dsp:cNvSpPr/>
      </dsp:nvSpPr>
      <dsp:spPr>
        <a:xfrm>
          <a:off x="8464003" y="2063081"/>
          <a:ext cx="699045" cy="699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621288" y="2063081"/>
        <a:ext cx="384475" cy="526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C68F39D-867D-4AFF-94C4-C3829AD5C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EC3C6AD-76A6-4B9E-9700-E70BCEA5B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DC213DD1-BF02-41F7-80A7-E6A5694F5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632AAB-7F7E-A124-45D0-9AE8D6BC2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0066" y="1122363"/>
            <a:ext cx="5397933" cy="2387600"/>
          </a:xfrm>
        </p:spPr>
        <p:txBody>
          <a:bodyPr>
            <a:normAutofit/>
          </a:bodyPr>
          <a:lstStyle/>
          <a:p>
            <a:r>
              <a:rPr lang="en-US" sz="4100" b="1" i="1"/>
              <a:t>Predicting December U.S. Flight Delays with Classical and Modern Methods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CEB08-A1DA-FEE1-F5BA-D6B973D84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896" y="3602038"/>
            <a:ext cx="5437103" cy="1655762"/>
          </a:xfrm>
        </p:spPr>
        <p:txBody>
          <a:bodyPr>
            <a:normAutofit/>
          </a:bodyPr>
          <a:lstStyle/>
          <a:p>
            <a:r>
              <a:rPr lang="en-US" dirty="0"/>
              <a:t>By Austin Phelps</a:t>
            </a:r>
          </a:p>
        </p:txBody>
      </p:sp>
      <p:pic>
        <p:nvPicPr>
          <p:cNvPr id="5" name="Picture 4" descr="Airplane taking off against dramatic sky">
            <a:extLst>
              <a:ext uri="{FF2B5EF4-FFF2-40B4-BE49-F238E27FC236}">
                <a16:creationId xmlns:a16="http://schemas.microsoft.com/office/drawing/2014/main" id="{1DDBE0F1-3CDD-2BF0-D734-EF4842BBD6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54" r="38797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466CCD0-FEF9-460D-9FB6-11613A492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F642B7E9-F9AF-4BC0-B586-E7B0E8E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16CE5EA6-3C76-4E5C-9257-D6A61A31C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DD7BCC42-B325-4F92-B500-14A2933DA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197BF445-29BA-4C54-A1B4-A4390F022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B10C1630-E8C0-489C-8FFB-C9BBAEDE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B8778BE5-6D1F-4629-A045-8A87E2C75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7885ADB-F1C4-4FF3-93CD-7C9337E8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9FC4F71-6E39-414E-9F39-CE1479FF8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FC9614F-1D2C-4CAC-8CE9-32DC7D863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2A872F50-76EA-4A5B-AA68-3CE2E2673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CE389546-6A1F-4203-ACD1-BC17DDBFB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1BA89DC9-FE9A-4228-A4BE-D3A37F865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A3E79A5-9B81-48B5-B96F-8D55B02FD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A76D4D27-C537-45E4-96DE-C5FD2C9A3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C1B158DD-2DCB-42FF-B1FE-3C947FEF0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3307DC3E-0C6E-4E70-AFA2-96538CE3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53A9F721-7EE3-4844-BB91-0B995BAC1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8F057800-5B8F-4775-805B-89727A78A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FC6DF692-3394-4FDD-92BA-CA0C41EB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B825CD97-262B-4A33-B1E5-55F0D81F4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F00EA2FE-C735-4E1E-B9DC-636C49061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95B50260-0DDF-4260-8DC1-D504B0643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BBB491EB-35C1-4159-94B2-A367ADC1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7EAA4E1C-EC83-44E0-A4AB-4B0F509A8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BE561717-C43F-46C1-BBCE-C830DE4A1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CC840BC4-F1CE-4A1B-A1DE-BB922689E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03B586C7-6126-46E0-9BEF-522798686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45C5C565-0EB6-4E0C-9752-84084CDBB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5CABC7BF-500C-4275-9EAA-9563EF43C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C7AA982B-BB49-4311-A724-81AAF8AB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89D49DD1-C07D-4ADD-BD4A-D6AA72575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4359B9DB-1A95-4934-A839-A76774D79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2B7EEF08-F28B-48E9-BA1D-E61AC6201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E846B9B0-7D1C-4E1B-9256-7F25E8E8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31B0CE6-7913-4D1C-AC18-2ED44DF9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0F3517CE-D006-4218-9BB0-65269371E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DE7DB798-CAAE-42A3-BDFE-D6AD0E0DA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07A53F87-B4E0-4C4E-B913-D336D8993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587D3AD0-B188-4D2E-A497-5180C1F22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E8B4429B-56DB-4ED5-8296-1C4EB6AE0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ABBE178E-641F-4008-8760-5134D226A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BB7A09DD-4AE2-4235-BCBA-B52CB7986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64DBEF94-3525-4008-AD35-D566A238B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1C0CEBA3-32C8-4D37-BBD0-8863B008E2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D12DBC8B-AE05-43C6-BF30-3F9CDADE9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47D642DC-B097-481B-8F32-671DE6AB5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0D7CD8F4-0787-4106-9E76-FF0AFA0AC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3ED06726-52C5-468C-BEA2-0194993F8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1541CE8F-816C-4189-8522-7AAA7EABD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3D0F8D98-15AC-458C-B872-777F4BBF3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9DE1ACE-C20F-4504-B0A1-5A37CA0D1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E4BDEE62-868F-49A1-B97A-DE8EDC86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B71AB3E3-099B-47DC-AD0D-215F18FD3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7D4B7844-C6A2-45AA-9147-C1CEC0CB8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6E1971-1C4C-46C8-A821-637664280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35FAC14F-8CA0-40F3-ADE4-31DBF8BD7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778F8CB9-0C96-4B66-B943-C5BF1A1B5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DB1C8E93-74F9-42A0-B326-E06DC9C58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EC6EA429-8E16-49E0-82D7-5846CDA7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8F64C508-2357-44C9-93D8-FC81B85A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82F6F3F7-8F51-41B4-AC2B-699593A1F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6F2FC65A-DA31-4602-B324-E53F76BD9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0E9B7CF9-E3CC-495E-A513-A8A1C2422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35C09477-23EA-4E6A-A8C2-5B447B25E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80A5D070-0FE6-4F72-8077-E259B2D35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07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C64E2A-C102-1DAF-B4E5-66E07FC7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US" dirty="0"/>
              <a:t>Motivation:</a:t>
            </a: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846240E9-24C7-9160-9BAC-AF75223288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3" r="26742" b="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9CE6C-5F29-6E80-8D34-62D96F49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 set out to predict whether a U.S. flight will depart 15+ minutes late during December. </a:t>
            </a:r>
          </a:p>
          <a:p>
            <a:r>
              <a:rPr lang="en-US" dirty="0"/>
              <a:t>December matters because holiday peaks strain staffing, gates, and passenger communications. </a:t>
            </a:r>
          </a:p>
          <a:p>
            <a:r>
              <a:rPr lang="en-US" dirty="0"/>
              <a:t>To keep the problem realistic, we only used information available before the aircraft pushes back (no weather after departure, no actual delay fields). </a:t>
            </a:r>
          </a:p>
          <a:p>
            <a:r>
              <a:rPr lang="en-US" dirty="0"/>
              <a:t>I trained on December 2010 and tested on December 2011 to check if the model generalizes to a different year with similar seasonal pressure.</a:t>
            </a:r>
          </a:p>
          <a:p>
            <a:pPr>
              <a:lnSpc>
                <a:spcPct val="11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0620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C028F3-D497-E254-44AD-27629E50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 dirty="0"/>
              <a:t> Dataset &amp;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15FF-541A-BC0C-5235-6C60E5558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576" y="1801813"/>
            <a:ext cx="4683124" cy="441272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The data come from the U.S. Bureau of Transportation Statistics On-Time Performance files. After removing cancelled and diverted flights, we had 518k flights in Dec-2010 and 489k in Dec-2011.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 The target label is DepDelay15 (yes/no).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Predictors are simple, pre-departure items: hour of day, weekday, carrier, origin, destination, etc.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I also "capped" very rare categories using 2010 frequencies so that the number of dummy variables stays manageable and consistent across years.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C897C5-EF40-2674-52DA-92C5F5E40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52645"/>
            <a:ext cx="5972211" cy="167221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684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5E4FEB-D75B-59BD-97D5-A0F52108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Methods (Models &amp; Validation)</a:t>
            </a: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Venn Diagram">
            <a:extLst>
              <a:ext uri="{FF2B5EF4-FFF2-40B4-BE49-F238E27FC236}">
                <a16:creationId xmlns:a16="http://schemas.microsoft.com/office/drawing/2014/main" id="{E34B42AC-527B-43C2-A3A5-A6434B47B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617" y="1836950"/>
            <a:ext cx="3178638" cy="31786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FFBC-A61B-8E2D-2CCB-FE81AB81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We used two standard classifiers: ridge logistic regression (a linear model with L2 regularization to prevent overfitting) and a small Random Forest as a quick non-linear check. </a:t>
            </a:r>
          </a:p>
          <a:p>
            <a:r>
              <a:rPr lang="en-US" sz="1800" dirty="0">
                <a:solidFill>
                  <a:schemeClr val="bg1"/>
                </a:solidFill>
              </a:rPr>
              <a:t>For model selection we used 5-fold week-wise cross-validation on Dec-2010: each fold is a full calendar week, which avoids information leakage across days. </a:t>
            </a:r>
          </a:p>
          <a:p>
            <a:r>
              <a:rPr lang="en-US" sz="1800" dirty="0">
                <a:solidFill>
                  <a:schemeClr val="bg1"/>
                </a:solidFill>
              </a:rPr>
              <a:t>After tuning, I locked the parameters and evaluated once on Dec-2011.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This design answers, "Will this approach still work next December, not just on last week's data?”</a:t>
            </a:r>
          </a:p>
        </p:txBody>
      </p:sp>
    </p:spTree>
    <p:extLst>
      <p:ext uri="{BB962C8B-B14F-4D97-AF65-F5344CB8AC3E}">
        <p14:creationId xmlns:p14="http://schemas.microsoft.com/office/powerpoint/2010/main" val="3266907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FA0E-5F75-A7AF-C258-FE9B9CB7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Results (A): Ridge on Dec-2011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B9A6C7-EB70-0A88-442A-6ADC573D5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3074742"/>
            <a:ext cx="4689234" cy="189913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8F69-266F-A8FD-5D9A-B3C914D14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6"/>
            <a:ext cx="5069210" cy="398999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900" dirty="0"/>
              <a:t>On the held-out Dec-2011 set, ridge achieved ROC-AUC = 0.61 and PR-AUC = 0.20. </a:t>
            </a:r>
          </a:p>
          <a:p>
            <a:r>
              <a:rPr lang="en-US" sz="2900" dirty="0"/>
              <a:t>ROC-AUC shows how well the model ranks flights from least to most risky; 0.5 is guessing, 1.0 is perfect, so higher is better. PR-AUC focuses on the rare "delay" class and asks, across many cutoffs, "when the model says a flight looks risky, how often is it actually delayed?" Accuracy is the overall percent correct at the chosen cutoff (we used 0.50). Sensitivity/Recall: How many real delays did we catch? Specificity: “how well did we avoid false alarms?"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In short, the model carries useful signal, but the operating threshold must be chosen carefully.</a:t>
            </a: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9468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4C0341-8F6F-0017-F7A3-F1D35122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 dirty="0"/>
              <a:t>Results (B): Threshold 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9B7F9-3823-3137-8B38-4D3E614B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When we lower the decision threshold (e.g., 0.50 - 0.40 -&gt; 0.30 - 0.25), sensitivity rises (we catch more true delays) while specificity/accuracy fall (we flag more on-time flights).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These are the classic precision-recall trade-offs in an imbalanced setting.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The right threshold depends on operations: if the goal is to manage a limited number of high-risk departures, pick a lower threshold that increases recall and review capacity; if false alarms are costly, use a higher threshold and accept lower recall.</a:t>
            </a:r>
          </a:p>
          <a:p>
            <a:pPr>
              <a:lnSpc>
                <a:spcPct val="110000"/>
              </a:lnSpc>
            </a:pPr>
            <a:endParaRPr lang="en-US" sz="1600" dirty="0"/>
          </a:p>
          <a:p>
            <a:pPr>
              <a:lnSpc>
                <a:spcPct val="110000"/>
              </a:lnSpc>
            </a:pPr>
            <a:endParaRPr lang="en-US" sz="1600" dirty="0"/>
          </a:p>
        </p:txBody>
      </p:sp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F492FC3-ACC3-0512-3657-9C28D7D69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82138"/>
            <a:ext cx="5456279" cy="186877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803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D8F7-F48D-A989-1EB8-A4D09025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Results (C): Random Forest Check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BEB10A-6C65-5812-8627-4CCF89497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3326788"/>
            <a:ext cx="4689234" cy="139504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4B296-DB7F-5C6E-B081-9E58FDA2C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A small Random Forest trained on Dec-2010 and scored on Dec-2011 shows a similar pattern: accuracy = 0.80, sensitivity &gt;= 0.14, specificity &gt;= 0.91 at a standard cutoff.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This confirms the class imbalance challenge rather than a weakness of a single algorithm.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The takeaway is consistent: the models can rank flights by risk, but performance in catching true delays depends on using probability scores with an appropriate threshold (or cost-sensitive rules), not relying on a default 0.50.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0108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32" name="Rectangle 131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1" name="Picture 70" descr="Back view of an airplane">
            <a:extLst>
              <a:ext uri="{FF2B5EF4-FFF2-40B4-BE49-F238E27FC236}">
                <a16:creationId xmlns:a16="http://schemas.microsoft.com/office/drawing/2014/main" id="{D4D2E5EF-353B-C558-111D-67E071AE797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7853" b="7853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136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157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151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147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141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2F3E7C-E260-2625-F9F5-C2B59DB8A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Challenge/Solution: Making the model useful when delays are 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879F2-4FF3-0148-62B5-2E606F776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52134"/>
            <a:ext cx="9905999" cy="3454399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The main problem was class imbalance: Most of the flights are on time, so true delays are rare.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With the default 0.50 cutoff, the model looked accurate, but it caught only 6% of real delays (recall = percent of actual delays we find).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My fix was to lower the decision threshold and test a few settings (0.50 -&gt; 0.40 -&gt; 0.30 -&gt; 0.25). At 0.30, recall rose to 42%; at 0.25, recall was 55%, but this also created more false alarms (specificity and accuracy dropped).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This same pattern showed up with a small Random Forest, so the issue is from the data being imbalanced, not from one specific model.</a:t>
            </a:r>
          </a:p>
          <a:p>
            <a:pPr>
              <a:lnSpc>
                <a:spcPct val="110000"/>
              </a:lnSpc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4312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70A57-6B0C-1670-D306-823A571A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4444E20-F188-ADC9-0D43-D953E26B1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1389865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28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8CB6EC-44F8-9A7A-6A31-A18CBB08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827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1418</TotalTime>
  <Words>829</Words>
  <Application>Microsoft Macintosh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Predicting December U.S. Flight Delays with Classical and Modern Methods</vt:lpstr>
      <vt:lpstr>Motivation:</vt:lpstr>
      <vt:lpstr> Dataset &amp; Features</vt:lpstr>
      <vt:lpstr>Methods (Models &amp; Validation)</vt:lpstr>
      <vt:lpstr>Results (A): Ridge on Dec-2011</vt:lpstr>
      <vt:lpstr>Results (B): Threshold trade-offs</vt:lpstr>
      <vt:lpstr>Results (C): Random Forest Check</vt:lpstr>
      <vt:lpstr>Challenge/Solution: Making the model useful when delays are rare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Phelps, Daniel</dc:creator>
  <cp:lastModifiedBy>Phelps, Daniel</cp:lastModifiedBy>
  <cp:revision>1</cp:revision>
  <dcterms:created xsi:type="dcterms:W3CDTF">2025-12-01T19:24:17Z</dcterms:created>
  <dcterms:modified xsi:type="dcterms:W3CDTF">2025-12-02T19:03:14Z</dcterms:modified>
</cp:coreProperties>
</file>