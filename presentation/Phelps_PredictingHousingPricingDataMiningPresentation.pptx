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095350-6698-4143-B85F-91400D6C437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D407E7-8CEA-4351-96F3-0B9A2478E693}">
      <dgm:prSet/>
      <dgm:spPr/>
      <dgm:t>
        <a:bodyPr/>
        <a:lstStyle/>
        <a:p>
          <a:r>
            <a:rPr lang="en-US"/>
            <a:t>Techniques Used:</a:t>
          </a:r>
        </a:p>
      </dgm:t>
    </dgm:pt>
    <dgm:pt modelId="{05153B9F-69E8-46D6-997E-A48D6174C019}" type="parTrans" cxnId="{6C1DA7F7-CD87-48B1-89E0-0994B05C4CC4}">
      <dgm:prSet/>
      <dgm:spPr/>
      <dgm:t>
        <a:bodyPr/>
        <a:lstStyle/>
        <a:p>
          <a:endParaRPr lang="en-US"/>
        </a:p>
      </dgm:t>
    </dgm:pt>
    <dgm:pt modelId="{CC156A02-9DEB-4707-BFFE-0B9DABCC7F17}" type="sibTrans" cxnId="{6C1DA7F7-CD87-48B1-89E0-0994B05C4CC4}">
      <dgm:prSet/>
      <dgm:spPr/>
      <dgm:t>
        <a:bodyPr/>
        <a:lstStyle/>
        <a:p>
          <a:endParaRPr lang="en-US"/>
        </a:p>
      </dgm:t>
    </dgm:pt>
    <dgm:pt modelId="{47A70C12-BD25-4D6C-A7B8-063AC092607D}">
      <dgm:prSet/>
      <dgm:spPr/>
      <dgm:t>
        <a:bodyPr/>
        <a:lstStyle/>
        <a:p>
          <a:r>
            <a:rPr lang="en-US" dirty="0"/>
            <a:t>﻿﻿EDA &amp; Visualization: Histograms, scatterplots, boxplots</a:t>
          </a:r>
        </a:p>
      </dgm:t>
    </dgm:pt>
    <dgm:pt modelId="{287DF5EA-E3A7-4C78-962D-59F3A8BB32B4}" type="parTrans" cxnId="{E8BC8B77-1F7C-4B5C-980F-C843D73F7EFE}">
      <dgm:prSet/>
      <dgm:spPr/>
      <dgm:t>
        <a:bodyPr/>
        <a:lstStyle/>
        <a:p>
          <a:endParaRPr lang="en-US"/>
        </a:p>
      </dgm:t>
    </dgm:pt>
    <dgm:pt modelId="{64C3D107-361D-42CA-9A6C-4CC9D9E71D08}" type="sibTrans" cxnId="{E8BC8B77-1F7C-4B5C-980F-C843D73F7EFE}">
      <dgm:prSet/>
      <dgm:spPr/>
      <dgm:t>
        <a:bodyPr/>
        <a:lstStyle/>
        <a:p>
          <a:endParaRPr lang="en-US"/>
        </a:p>
      </dgm:t>
    </dgm:pt>
    <dgm:pt modelId="{81452EF8-5578-4A5E-86B0-BE66117CFDFA}">
      <dgm:prSet/>
      <dgm:spPr/>
      <dgm:t>
        <a:bodyPr/>
        <a:lstStyle/>
        <a:p>
          <a:r>
            <a:rPr lang="en-US" dirty="0"/>
            <a:t>﻿﻿PCA: Reduced 35 correlated numeric features into important components</a:t>
          </a:r>
        </a:p>
      </dgm:t>
    </dgm:pt>
    <dgm:pt modelId="{737697E1-A71D-47B9-B2E9-1E8BC59333F4}" type="parTrans" cxnId="{D22931CA-9F70-4B20-AA24-528D0B6E128A}">
      <dgm:prSet/>
      <dgm:spPr/>
      <dgm:t>
        <a:bodyPr/>
        <a:lstStyle/>
        <a:p>
          <a:endParaRPr lang="en-US"/>
        </a:p>
      </dgm:t>
    </dgm:pt>
    <dgm:pt modelId="{8EC39139-9D5A-4FA2-BC36-60A33297986E}" type="sibTrans" cxnId="{D22931CA-9F70-4B20-AA24-528D0B6E128A}">
      <dgm:prSet/>
      <dgm:spPr/>
      <dgm:t>
        <a:bodyPr/>
        <a:lstStyle/>
        <a:p>
          <a:endParaRPr lang="en-US"/>
        </a:p>
      </dgm:t>
    </dgm:pt>
    <dgm:pt modelId="{E0B5EFE4-E1B5-47B7-8AD7-F1279A77B8BE}">
      <dgm:prSet/>
      <dgm:spPr/>
      <dgm:t>
        <a:bodyPr/>
        <a:lstStyle/>
        <a:p>
          <a:r>
            <a:rPr lang="en-US" dirty="0"/>
            <a:t>﻿﻿K-Means Clustering: Used PCA space to identify natural home segments</a:t>
          </a:r>
        </a:p>
      </dgm:t>
    </dgm:pt>
    <dgm:pt modelId="{5CCEB71E-9F50-486E-A54A-85AE530DBF8C}" type="parTrans" cxnId="{1A5973D4-EE5F-4B8D-8DB3-AAE97341B038}">
      <dgm:prSet/>
      <dgm:spPr/>
      <dgm:t>
        <a:bodyPr/>
        <a:lstStyle/>
        <a:p>
          <a:endParaRPr lang="en-US"/>
        </a:p>
      </dgm:t>
    </dgm:pt>
    <dgm:pt modelId="{23B875D6-E6B3-44C3-A9DE-8BC3BBB45E2C}" type="sibTrans" cxnId="{1A5973D4-EE5F-4B8D-8DB3-AAE97341B038}">
      <dgm:prSet/>
      <dgm:spPr/>
      <dgm:t>
        <a:bodyPr/>
        <a:lstStyle/>
        <a:p>
          <a:endParaRPr lang="en-US"/>
        </a:p>
      </dgm:t>
    </dgm:pt>
    <dgm:pt modelId="{141B2ADF-59E8-4F24-92A6-B1247BCF49E3}">
      <dgm:prSet/>
      <dgm:spPr/>
      <dgm:t>
        <a:bodyPr/>
        <a:lstStyle/>
        <a:p>
          <a:r>
            <a:rPr lang="en-US"/>
            <a:t>Why PCA:</a:t>
          </a:r>
        </a:p>
      </dgm:t>
    </dgm:pt>
    <dgm:pt modelId="{9F26BBE9-57C3-4AA9-823A-4AC49AF386DF}" type="parTrans" cxnId="{C376618D-DF83-4EE9-BDD7-7C25A724F1E0}">
      <dgm:prSet/>
      <dgm:spPr/>
      <dgm:t>
        <a:bodyPr/>
        <a:lstStyle/>
        <a:p>
          <a:endParaRPr lang="en-US"/>
        </a:p>
      </dgm:t>
    </dgm:pt>
    <dgm:pt modelId="{CEC6126E-D954-459E-950E-9E4E353B912A}" type="sibTrans" cxnId="{C376618D-DF83-4EE9-BDD7-7C25A724F1E0}">
      <dgm:prSet/>
      <dgm:spPr/>
      <dgm:t>
        <a:bodyPr/>
        <a:lstStyle/>
        <a:p>
          <a:endParaRPr lang="en-US"/>
        </a:p>
      </dgm:t>
    </dgm:pt>
    <dgm:pt modelId="{211F3E3E-D1CF-450F-B66E-A764994BAD09}">
      <dgm:prSet/>
      <dgm:spPr/>
      <dgm:t>
        <a:bodyPr/>
        <a:lstStyle/>
        <a:p>
          <a:r>
            <a:rPr lang="en-US" dirty="0"/>
            <a:t>Housing features (</a:t>
          </a:r>
          <a:r>
            <a:rPr lang="en-US" dirty="0" err="1"/>
            <a:t>sqft</a:t>
          </a:r>
          <a:r>
            <a:rPr lang="en-US" dirty="0"/>
            <a:t>, rooms, baths, basement, garage) are highly correlated. PCA reduces redundancy and uncovers main dimensions of variation.</a:t>
          </a:r>
        </a:p>
      </dgm:t>
    </dgm:pt>
    <dgm:pt modelId="{44AADD21-46C5-4799-97B1-022085DCD970}" type="parTrans" cxnId="{D95D92F9-9922-489A-83AD-D2A82E462241}">
      <dgm:prSet/>
      <dgm:spPr/>
      <dgm:t>
        <a:bodyPr/>
        <a:lstStyle/>
        <a:p>
          <a:endParaRPr lang="en-US"/>
        </a:p>
      </dgm:t>
    </dgm:pt>
    <dgm:pt modelId="{8466D784-F4BC-4F8A-B23E-0EA2175F1676}" type="sibTrans" cxnId="{D95D92F9-9922-489A-83AD-D2A82E462241}">
      <dgm:prSet/>
      <dgm:spPr/>
      <dgm:t>
        <a:bodyPr/>
        <a:lstStyle/>
        <a:p>
          <a:endParaRPr lang="en-US"/>
        </a:p>
      </dgm:t>
    </dgm:pt>
    <dgm:pt modelId="{72D66AB5-E990-E64B-9AB6-0357BBAF439B}" type="pres">
      <dgm:prSet presAssocID="{0C095350-6698-4143-B85F-91400D6C4379}" presName="linear" presStyleCnt="0">
        <dgm:presLayoutVars>
          <dgm:animLvl val="lvl"/>
          <dgm:resizeHandles val="exact"/>
        </dgm:presLayoutVars>
      </dgm:prSet>
      <dgm:spPr/>
    </dgm:pt>
    <dgm:pt modelId="{CCE7B158-8630-E640-B43E-6C43793C6D4E}" type="pres">
      <dgm:prSet presAssocID="{04D407E7-8CEA-4351-96F3-0B9A2478E69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0EAAC20-3010-3445-AE6F-45E72DCF757A}" type="pres">
      <dgm:prSet presAssocID="{04D407E7-8CEA-4351-96F3-0B9A2478E693}" presName="childText" presStyleLbl="revTx" presStyleIdx="0" presStyleCnt="2">
        <dgm:presLayoutVars>
          <dgm:bulletEnabled val="1"/>
        </dgm:presLayoutVars>
      </dgm:prSet>
      <dgm:spPr/>
    </dgm:pt>
    <dgm:pt modelId="{2B411AE5-83B7-F240-A42F-C7F15B772C1D}" type="pres">
      <dgm:prSet presAssocID="{141B2ADF-59E8-4F24-92A6-B1247BCF49E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4E7104C-650F-C34A-A075-3B8BC1088F40}" type="pres">
      <dgm:prSet presAssocID="{141B2ADF-59E8-4F24-92A6-B1247BCF49E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CB2B90F-BF6E-134A-BCAE-497262A4875B}" type="presOf" srcId="{0C095350-6698-4143-B85F-91400D6C4379}" destId="{72D66AB5-E990-E64B-9AB6-0357BBAF439B}" srcOrd="0" destOrd="0" presId="urn:microsoft.com/office/officeart/2005/8/layout/vList2"/>
    <dgm:cxn modelId="{8C9CA236-3A2E-B04F-9017-00E816D3A6C9}" type="presOf" srcId="{211F3E3E-D1CF-450F-B66E-A764994BAD09}" destId="{04E7104C-650F-C34A-A075-3B8BC1088F40}" srcOrd="0" destOrd="0" presId="urn:microsoft.com/office/officeart/2005/8/layout/vList2"/>
    <dgm:cxn modelId="{CDD22659-A282-B046-8B08-A5E155C41570}" type="presOf" srcId="{81452EF8-5578-4A5E-86B0-BE66117CFDFA}" destId="{80EAAC20-3010-3445-AE6F-45E72DCF757A}" srcOrd="0" destOrd="1" presId="urn:microsoft.com/office/officeart/2005/8/layout/vList2"/>
    <dgm:cxn modelId="{E8BC8B77-1F7C-4B5C-980F-C843D73F7EFE}" srcId="{04D407E7-8CEA-4351-96F3-0B9A2478E693}" destId="{47A70C12-BD25-4D6C-A7B8-063AC092607D}" srcOrd="0" destOrd="0" parTransId="{287DF5EA-E3A7-4C78-962D-59F3A8BB32B4}" sibTransId="{64C3D107-361D-42CA-9A6C-4CC9D9E71D08}"/>
    <dgm:cxn modelId="{C376618D-DF83-4EE9-BDD7-7C25A724F1E0}" srcId="{0C095350-6698-4143-B85F-91400D6C4379}" destId="{141B2ADF-59E8-4F24-92A6-B1247BCF49E3}" srcOrd="1" destOrd="0" parTransId="{9F26BBE9-57C3-4AA9-823A-4AC49AF386DF}" sibTransId="{CEC6126E-D954-459E-950E-9E4E353B912A}"/>
    <dgm:cxn modelId="{A6461BBB-F395-6A43-879D-A11A01684C25}" type="presOf" srcId="{04D407E7-8CEA-4351-96F3-0B9A2478E693}" destId="{CCE7B158-8630-E640-B43E-6C43793C6D4E}" srcOrd="0" destOrd="0" presId="urn:microsoft.com/office/officeart/2005/8/layout/vList2"/>
    <dgm:cxn modelId="{B85A46C8-4D87-CF4F-BFE3-9AE64240F37B}" type="presOf" srcId="{141B2ADF-59E8-4F24-92A6-B1247BCF49E3}" destId="{2B411AE5-83B7-F240-A42F-C7F15B772C1D}" srcOrd="0" destOrd="0" presId="urn:microsoft.com/office/officeart/2005/8/layout/vList2"/>
    <dgm:cxn modelId="{D22931CA-9F70-4B20-AA24-528D0B6E128A}" srcId="{04D407E7-8CEA-4351-96F3-0B9A2478E693}" destId="{81452EF8-5578-4A5E-86B0-BE66117CFDFA}" srcOrd="1" destOrd="0" parTransId="{737697E1-A71D-47B9-B2E9-1E8BC59333F4}" sibTransId="{8EC39139-9D5A-4FA2-BC36-60A33297986E}"/>
    <dgm:cxn modelId="{1A5973D4-EE5F-4B8D-8DB3-AAE97341B038}" srcId="{04D407E7-8CEA-4351-96F3-0B9A2478E693}" destId="{E0B5EFE4-E1B5-47B7-8AD7-F1279A77B8BE}" srcOrd="2" destOrd="0" parTransId="{5CCEB71E-9F50-486E-A54A-85AE530DBF8C}" sibTransId="{23B875D6-E6B3-44C3-A9DE-8BC3BBB45E2C}"/>
    <dgm:cxn modelId="{6C1DA7F7-CD87-48B1-89E0-0994B05C4CC4}" srcId="{0C095350-6698-4143-B85F-91400D6C4379}" destId="{04D407E7-8CEA-4351-96F3-0B9A2478E693}" srcOrd="0" destOrd="0" parTransId="{05153B9F-69E8-46D6-997E-A48D6174C019}" sibTransId="{CC156A02-9DEB-4707-BFFE-0B9DABCC7F17}"/>
    <dgm:cxn modelId="{2BFAB7F8-E58C-F74F-9773-F244376C11C2}" type="presOf" srcId="{47A70C12-BD25-4D6C-A7B8-063AC092607D}" destId="{80EAAC20-3010-3445-AE6F-45E72DCF757A}" srcOrd="0" destOrd="0" presId="urn:microsoft.com/office/officeart/2005/8/layout/vList2"/>
    <dgm:cxn modelId="{D95D92F9-9922-489A-83AD-D2A82E462241}" srcId="{141B2ADF-59E8-4F24-92A6-B1247BCF49E3}" destId="{211F3E3E-D1CF-450F-B66E-A764994BAD09}" srcOrd="0" destOrd="0" parTransId="{44AADD21-46C5-4799-97B1-022085DCD970}" sibTransId="{8466D784-F4BC-4F8A-B23E-0EA2175F1676}"/>
    <dgm:cxn modelId="{B1C532FA-C8C7-A448-BEA9-5CA40A8203CE}" type="presOf" srcId="{E0B5EFE4-E1B5-47B7-8AD7-F1279A77B8BE}" destId="{80EAAC20-3010-3445-AE6F-45E72DCF757A}" srcOrd="0" destOrd="2" presId="urn:microsoft.com/office/officeart/2005/8/layout/vList2"/>
    <dgm:cxn modelId="{90BAFD1F-8470-874C-972F-BD2FD18396BA}" type="presParOf" srcId="{72D66AB5-E990-E64B-9AB6-0357BBAF439B}" destId="{CCE7B158-8630-E640-B43E-6C43793C6D4E}" srcOrd="0" destOrd="0" presId="urn:microsoft.com/office/officeart/2005/8/layout/vList2"/>
    <dgm:cxn modelId="{6DB3102A-5743-F14F-AF34-0293AB8D6313}" type="presParOf" srcId="{72D66AB5-E990-E64B-9AB6-0357BBAF439B}" destId="{80EAAC20-3010-3445-AE6F-45E72DCF757A}" srcOrd="1" destOrd="0" presId="urn:microsoft.com/office/officeart/2005/8/layout/vList2"/>
    <dgm:cxn modelId="{11B0CFDF-F6D5-8246-B1DF-DA2D3B203545}" type="presParOf" srcId="{72D66AB5-E990-E64B-9AB6-0357BBAF439B}" destId="{2B411AE5-83B7-F240-A42F-C7F15B772C1D}" srcOrd="2" destOrd="0" presId="urn:microsoft.com/office/officeart/2005/8/layout/vList2"/>
    <dgm:cxn modelId="{6FC0FA11-315F-E34D-8CAB-CF624F3D0D05}" type="presParOf" srcId="{72D66AB5-E990-E64B-9AB6-0357BBAF439B}" destId="{04E7104C-650F-C34A-A075-3B8BC1088F4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CB08D0-191E-49D4-8F60-788D08FD2E99}" type="doc">
      <dgm:prSet loTypeId="urn:microsoft.com/office/officeart/2005/8/layout/list1" loCatId="list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72146437-9435-4107-BDCB-AC497479B522}">
      <dgm:prSet/>
      <dgm:spPr/>
      <dgm:t>
        <a:bodyPr/>
        <a:lstStyle/>
        <a:p>
          <a:r>
            <a:rPr lang="en-US" dirty="0"/>
            <a:t>K-Means selected K = 3</a:t>
          </a:r>
        </a:p>
      </dgm:t>
    </dgm:pt>
    <dgm:pt modelId="{45250D75-638F-4F04-82D3-BD8076484EFA}" type="parTrans" cxnId="{29376C51-8C27-46DC-8EEC-3C982D7F86B0}">
      <dgm:prSet/>
      <dgm:spPr/>
      <dgm:t>
        <a:bodyPr/>
        <a:lstStyle/>
        <a:p>
          <a:endParaRPr lang="en-US"/>
        </a:p>
      </dgm:t>
    </dgm:pt>
    <dgm:pt modelId="{5BF3AF5A-C430-4E11-B3C4-5DFE29FB4708}" type="sibTrans" cxnId="{29376C51-8C27-46DC-8EEC-3C982D7F86B0}">
      <dgm:prSet/>
      <dgm:spPr/>
      <dgm:t>
        <a:bodyPr/>
        <a:lstStyle/>
        <a:p>
          <a:endParaRPr lang="en-US"/>
        </a:p>
      </dgm:t>
    </dgm:pt>
    <dgm:pt modelId="{2408DA9C-A3E2-4FF2-A605-372382A1D760}">
      <dgm:prSet/>
      <dgm:spPr/>
      <dgm:t>
        <a:bodyPr/>
        <a:lstStyle/>
        <a:p>
          <a:r>
            <a:rPr lang="en-US" dirty="0"/>
            <a:t>Cluster 1 - Higher-end homes</a:t>
          </a:r>
        </a:p>
      </dgm:t>
    </dgm:pt>
    <dgm:pt modelId="{E9A5D7D0-F1CE-4318-8455-F3C62E48E78D}" type="parTrans" cxnId="{2F9192FC-8289-4BCA-BC8B-B59F51347185}">
      <dgm:prSet/>
      <dgm:spPr/>
      <dgm:t>
        <a:bodyPr/>
        <a:lstStyle/>
        <a:p>
          <a:endParaRPr lang="en-US"/>
        </a:p>
      </dgm:t>
    </dgm:pt>
    <dgm:pt modelId="{23E48938-2712-4808-A0BC-96B31B64A6EF}" type="sibTrans" cxnId="{2F9192FC-8289-4BCA-BC8B-B59F51347185}">
      <dgm:prSet/>
      <dgm:spPr/>
      <dgm:t>
        <a:bodyPr/>
        <a:lstStyle/>
        <a:p>
          <a:endParaRPr lang="en-US"/>
        </a:p>
      </dgm:t>
    </dgm:pt>
    <dgm:pt modelId="{6212A94C-1336-4F9A-B8CB-7D8379B4B730}">
      <dgm:prSet/>
      <dgm:spPr/>
      <dgm:t>
        <a:bodyPr/>
        <a:lstStyle/>
        <a:p>
          <a:r>
            <a:rPr lang="en-US"/>
            <a:t>﻿﻿High quality (7)</a:t>
          </a:r>
        </a:p>
      </dgm:t>
    </dgm:pt>
    <dgm:pt modelId="{635C6F79-6B5B-42B6-9EA6-F3D45FF50C93}" type="parTrans" cxnId="{D68C1DFA-3685-4E3A-A6F6-7A5679B7A8B6}">
      <dgm:prSet/>
      <dgm:spPr/>
      <dgm:t>
        <a:bodyPr/>
        <a:lstStyle/>
        <a:p>
          <a:endParaRPr lang="en-US"/>
        </a:p>
      </dgm:t>
    </dgm:pt>
    <dgm:pt modelId="{F62D8BB5-D30C-4704-8776-7DD745A28BC9}" type="sibTrans" cxnId="{D68C1DFA-3685-4E3A-A6F6-7A5679B7A8B6}">
      <dgm:prSet/>
      <dgm:spPr/>
      <dgm:t>
        <a:bodyPr/>
        <a:lstStyle/>
        <a:p>
          <a:endParaRPr lang="en-US"/>
        </a:p>
      </dgm:t>
    </dgm:pt>
    <dgm:pt modelId="{A71B4E8C-5AB8-4624-B98D-D2580C402159}">
      <dgm:prSet/>
      <dgm:spPr/>
      <dgm:t>
        <a:bodyPr/>
        <a:lstStyle/>
        <a:p>
          <a:r>
            <a:rPr lang="en-US"/>
            <a:t>﻿﻿Newer (2003)</a:t>
          </a:r>
        </a:p>
      </dgm:t>
    </dgm:pt>
    <dgm:pt modelId="{31EAD973-A8F6-4FC7-9237-D4FB449350A2}" type="parTrans" cxnId="{055325E8-3F4D-475C-8BA6-898863B0BD58}">
      <dgm:prSet/>
      <dgm:spPr/>
      <dgm:t>
        <a:bodyPr/>
        <a:lstStyle/>
        <a:p>
          <a:endParaRPr lang="en-US"/>
        </a:p>
      </dgm:t>
    </dgm:pt>
    <dgm:pt modelId="{113CAA15-E565-4149-8787-2122D4CF190F}" type="sibTrans" cxnId="{055325E8-3F4D-475C-8BA6-898863B0BD58}">
      <dgm:prSet/>
      <dgm:spPr/>
      <dgm:t>
        <a:bodyPr/>
        <a:lstStyle/>
        <a:p>
          <a:endParaRPr lang="en-US"/>
        </a:p>
      </dgm:t>
    </dgm:pt>
    <dgm:pt modelId="{D088C3C8-F2CC-4D20-9A4F-41057CEC538D}">
      <dgm:prSet/>
      <dgm:spPr/>
      <dgm:t>
        <a:bodyPr/>
        <a:lstStyle/>
        <a:p>
          <a:r>
            <a:rPr lang="en-US" dirty="0"/>
            <a:t>﻿﻿﻿﻿Highest prices ($214k)</a:t>
          </a:r>
        </a:p>
      </dgm:t>
    </dgm:pt>
    <dgm:pt modelId="{5BA30B42-E40A-481F-928A-07602EA14A8D}" type="parTrans" cxnId="{9E064106-38E8-4EE5-9215-B44852898DB2}">
      <dgm:prSet/>
      <dgm:spPr/>
      <dgm:t>
        <a:bodyPr/>
        <a:lstStyle/>
        <a:p>
          <a:endParaRPr lang="en-US"/>
        </a:p>
      </dgm:t>
    </dgm:pt>
    <dgm:pt modelId="{6B6DAB21-6B72-40F0-BA9D-4D9A42AC67E1}" type="sibTrans" cxnId="{9E064106-38E8-4EE5-9215-B44852898DB2}">
      <dgm:prSet/>
      <dgm:spPr/>
      <dgm:t>
        <a:bodyPr/>
        <a:lstStyle/>
        <a:p>
          <a:endParaRPr lang="en-US"/>
        </a:p>
      </dgm:t>
    </dgm:pt>
    <dgm:pt modelId="{2102B14C-5A43-4744-A83E-87841E038D78}">
      <dgm:prSet/>
      <dgm:spPr/>
      <dgm:t>
        <a:bodyPr/>
        <a:lstStyle/>
        <a:p>
          <a:r>
            <a:rPr lang="en-US" dirty="0"/>
            <a:t>Cluster 2 - Large but older homes</a:t>
          </a:r>
        </a:p>
      </dgm:t>
    </dgm:pt>
    <dgm:pt modelId="{9C96EED2-60A2-46C2-BABA-4028D5CB4A5B}" type="parTrans" cxnId="{C9E06FEF-FEC3-4A69-973F-26A76B1D842E}">
      <dgm:prSet/>
      <dgm:spPr/>
      <dgm:t>
        <a:bodyPr/>
        <a:lstStyle/>
        <a:p>
          <a:endParaRPr lang="en-US"/>
        </a:p>
      </dgm:t>
    </dgm:pt>
    <dgm:pt modelId="{6E45F443-B450-4FFA-ACD0-E4E8BA506D5E}" type="sibTrans" cxnId="{C9E06FEF-FEC3-4A69-973F-26A76B1D842E}">
      <dgm:prSet/>
      <dgm:spPr/>
      <dgm:t>
        <a:bodyPr/>
        <a:lstStyle/>
        <a:p>
          <a:endParaRPr lang="en-US"/>
        </a:p>
      </dgm:t>
    </dgm:pt>
    <dgm:pt modelId="{4595F64A-A5B4-4928-A8C2-D0B10192369C}">
      <dgm:prSet/>
      <dgm:spPr/>
      <dgm:t>
        <a:bodyPr/>
        <a:lstStyle/>
        <a:p>
          <a:r>
            <a:rPr lang="en-US" dirty="0"/>
            <a:t>﻿﻿Larger Area(1,922 </a:t>
          </a:r>
          <a:r>
            <a:rPr lang="en-US" dirty="0" err="1"/>
            <a:t>sqft</a:t>
          </a:r>
          <a:r>
            <a:rPr lang="en-US" dirty="0"/>
            <a:t>)</a:t>
          </a:r>
        </a:p>
      </dgm:t>
    </dgm:pt>
    <dgm:pt modelId="{A3E341D2-E6D0-4FDC-9CFE-9172F278C70E}" type="parTrans" cxnId="{1B1BAAD0-3259-4DAC-AACA-ADE80CEBCA0D}">
      <dgm:prSet/>
      <dgm:spPr/>
      <dgm:t>
        <a:bodyPr/>
        <a:lstStyle/>
        <a:p>
          <a:endParaRPr lang="en-US"/>
        </a:p>
      </dgm:t>
    </dgm:pt>
    <dgm:pt modelId="{A7CF676F-D5F3-4E46-8FF2-237971E81C39}" type="sibTrans" cxnId="{1B1BAAD0-3259-4DAC-AACA-ADE80CEBCA0D}">
      <dgm:prSet/>
      <dgm:spPr/>
      <dgm:t>
        <a:bodyPr/>
        <a:lstStyle/>
        <a:p>
          <a:endParaRPr lang="en-US"/>
        </a:p>
      </dgm:t>
    </dgm:pt>
    <dgm:pt modelId="{52122170-0D40-47CE-A3D3-FCDB8FB1F407}">
      <dgm:prSet/>
      <dgm:spPr/>
      <dgm:t>
        <a:bodyPr/>
        <a:lstStyle/>
        <a:p>
          <a:r>
            <a:rPr lang="en-US" dirty="0"/>
            <a:t>﻿﻿Mid-price ($200k)</a:t>
          </a:r>
        </a:p>
      </dgm:t>
    </dgm:pt>
    <dgm:pt modelId="{CE0425BF-B997-4A18-A247-AA8FE05B5502}" type="parTrans" cxnId="{3836DE78-381F-4542-8C3E-AE712B89FC08}">
      <dgm:prSet/>
      <dgm:spPr/>
      <dgm:t>
        <a:bodyPr/>
        <a:lstStyle/>
        <a:p>
          <a:endParaRPr lang="en-US"/>
        </a:p>
      </dgm:t>
    </dgm:pt>
    <dgm:pt modelId="{0A9689D3-3F95-4447-A996-A95A0504F33A}" type="sibTrans" cxnId="{3836DE78-381F-4542-8C3E-AE712B89FC08}">
      <dgm:prSet/>
      <dgm:spPr/>
      <dgm:t>
        <a:bodyPr/>
        <a:lstStyle/>
        <a:p>
          <a:endParaRPr lang="en-US"/>
        </a:p>
      </dgm:t>
    </dgm:pt>
    <dgm:pt modelId="{5137C022-1C47-4765-80C4-3292612E58E3}">
      <dgm:prSet/>
      <dgm:spPr/>
      <dgm:t>
        <a:bodyPr/>
        <a:lstStyle/>
        <a:p>
          <a:r>
            <a:rPr lang="en-US" dirty="0"/>
            <a:t>Cluster 3 - Starter homes</a:t>
          </a:r>
        </a:p>
      </dgm:t>
    </dgm:pt>
    <dgm:pt modelId="{9A142F98-A0D9-4940-B796-0D3BDE222249}" type="parTrans" cxnId="{8E7204A8-7A1C-4A2A-A78B-3AF61D756B1F}">
      <dgm:prSet/>
      <dgm:spPr/>
      <dgm:t>
        <a:bodyPr/>
        <a:lstStyle/>
        <a:p>
          <a:endParaRPr lang="en-US"/>
        </a:p>
      </dgm:t>
    </dgm:pt>
    <dgm:pt modelId="{B2D70557-EE3A-453E-92F3-664985BB0DFD}" type="sibTrans" cxnId="{8E7204A8-7A1C-4A2A-A78B-3AF61D756B1F}">
      <dgm:prSet/>
      <dgm:spPr/>
      <dgm:t>
        <a:bodyPr/>
        <a:lstStyle/>
        <a:p>
          <a:endParaRPr lang="en-US"/>
        </a:p>
      </dgm:t>
    </dgm:pt>
    <dgm:pt modelId="{3B3F5085-027D-4886-94A4-0A14B7A7EC84}">
      <dgm:prSet/>
      <dgm:spPr/>
      <dgm:t>
        <a:bodyPr/>
        <a:lstStyle/>
        <a:p>
          <a:r>
            <a:rPr lang="en-US" dirty="0"/>
            <a:t>﻿﻿Smaller (1,118 </a:t>
          </a:r>
          <a:r>
            <a:rPr lang="en-US" dirty="0" err="1"/>
            <a:t>sqft</a:t>
          </a:r>
          <a:r>
            <a:rPr lang="en-US" dirty="0"/>
            <a:t>)</a:t>
          </a:r>
        </a:p>
      </dgm:t>
    </dgm:pt>
    <dgm:pt modelId="{ECC59194-65A2-4336-B07B-82947F83ACD1}" type="parTrans" cxnId="{393D38EE-AC70-45CB-B52A-676494CC329C}">
      <dgm:prSet/>
      <dgm:spPr/>
      <dgm:t>
        <a:bodyPr/>
        <a:lstStyle/>
        <a:p>
          <a:endParaRPr lang="en-US"/>
        </a:p>
      </dgm:t>
    </dgm:pt>
    <dgm:pt modelId="{E27B238F-DE5C-4506-8927-CE57B2162671}" type="sibTrans" cxnId="{393D38EE-AC70-45CB-B52A-676494CC329C}">
      <dgm:prSet/>
      <dgm:spPr/>
      <dgm:t>
        <a:bodyPr/>
        <a:lstStyle/>
        <a:p>
          <a:endParaRPr lang="en-US"/>
        </a:p>
      </dgm:t>
    </dgm:pt>
    <dgm:pt modelId="{9BC20140-5173-49EA-A9D2-1DF054C8D2BD}">
      <dgm:prSet/>
      <dgm:spPr/>
      <dgm:t>
        <a:bodyPr/>
        <a:lstStyle/>
        <a:p>
          <a:r>
            <a:rPr lang="en-US" dirty="0"/>
            <a:t>﻿﻿Lower quality (5)</a:t>
          </a:r>
        </a:p>
      </dgm:t>
    </dgm:pt>
    <dgm:pt modelId="{CB38D68A-4D49-4BDB-8AC3-5C91DDB89ECD}" type="parTrans" cxnId="{E4521DE4-2B25-4F2A-BC57-E22CE9F3E461}">
      <dgm:prSet/>
      <dgm:spPr/>
      <dgm:t>
        <a:bodyPr/>
        <a:lstStyle/>
        <a:p>
          <a:endParaRPr lang="en-US"/>
        </a:p>
      </dgm:t>
    </dgm:pt>
    <dgm:pt modelId="{B68E12FD-8F2F-4ECA-AC97-3E06419A4449}" type="sibTrans" cxnId="{E4521DE4-2B25-4F2A-BC57-E22CE9F3E461}">
      <dgm:prSet/>
      <dgm:spPr/>
      <dgm:t>
        <a:bodyPr/>
        <a:lstStyle/>
        <a:p>
          <a:endParaRPr lang="en-US"/>
        </a:p>
      </dgm:t>
    </dgm:pt>
    <dgm:pt modelId="{648FDF91-9CEB-4096-823B-F188EE926D32}">
      <dgm:prSet/>
      <dgm:spPr/>
      <dgm:t>
        <a:bodyPr/>
        <a:lstStyle/>
        <a:p>
          <a:r>
            <a:rPr lang="en-US"/>
            <a:t>﻿﻿Lowest prices ($130k)</a:t>
          </a:r>
        </a:p>
      </dgm:t>
    </dgm:pt>
    <dgm:pt modelId="{0E2C7C4C-8241-4AF7-82D2-9A9A3F8F8BEA}" type="parTrans" cxnId="{882BD5B1-9944-44F0-A01D-33374E8125B3}">
      <dgm:prSet/>
      <dgm:spPr/>
      <dgm:t>
        <a:bodyPr/>
        <a:lstStyle/>
        <a:p>
          <a:endParaRPr lang="en-US"/>
        </a:p>
      </dgm:t>
    </dgm:pt>
    <dgm:pt modelId="{0C6F8D7E-41E3-48C2-89FF-A6EE06173980}" type="sibTrans" cxnId="{882BD5B1-9944-44F0-A01D-33374E8125B3}">
      <dgm:prSet/>
      <dgm:spPr/>
      <dgm:t>
        <a:bodyPr/>
        <a:lstStyle/>
        <a:p>
          <a:endParaRPr lang="en-US"/>
        </a:p>
      </dgm:t>
    </dgm:pt>
    <dgm:pt modelId="{59C371FC-87BB-5640-A831-06D1890554B9}">
      <dgm:prSet/>
      <dgm:spPr/>
      <dgm:t>
        <a:bodyPr/>
        <a:lstStyle/>
        <a:p>
          <a:r>
            <a:rPr lang="en-US" dirty="0"/>
            <a:t>﻿﻿Older (1957)</a:t>
          </a:r>
        </a:p>
      </dgm:t>
    </dgm:pt>
    <dgm:pt modelId="{356F59E2-0D8F-C648-9CFB-F0F62D21E416}" type="parTrans" cxnId="{4342F3B6-DA6C-B64C-9FAD-FB14B717F91B}">
      <dgm:prSet/>
      <dgm:spPr/>
      <dgm:t>
        <a:bodyPr/>
        <a:lstStyle/>
        <a:p>
          <a:endParaRPr lang="en-US"/>
        </a:p>
      </dgm:t>
    </dgm:pt>
    <dgm:pt modelId="{0876CE65-4A42-ED4B-9E98-CC5660D56FB2}" type="sibTrans" cxnId="{4342F3B6-DA6C-B64C-9FAD-FB14B717F91B}">
      <dgm:prSet/>
      <dgm:spPr/>
      <dgm:t>
        <a:bodyPr/>
        <a:lstStyle/>
        <a:p>
          <a:endParaRPr lang="en-US"/>
        </a:p>
      </dgm:t>
    </dgm:pt>
    <dgm:pt modelId="{01FE4998-01F5-4F41-A553-528AFEF4E17B}" type="pres">
      <dgm:prSet presAssocID="{BECB08D0-191E-49D4-8F60-788D08FD2E99}" presName="linear" presStyleCnt="0">
        <dgm:presLayoutVars>
          <dgm:dir/>
          <dgm:animLvl val="lvl"/>
          <dgm:resizeHandles val="exact"/>
        </dgm:presLayoutVars>
      </dgm:prSet>
      <dgm:spPr/>
    </dgm:pt>
    <dgm:pt modelId="{1AD16783-D82F-5B41-B35D-CFBECB112247}" type="pres">
      <dgm:prSet presAssocID="{72146437-9435-4107-BDCB-AC497479B522}" presName="parentLin" presStyleCnt="0"/>
      <dgm:spPr/>
    </dgm:pt>
    <dgm:pt modelId="{6A6CBC4C-FA73-6D43-B93F-56D4DA5DC754}" type="pres">
      <dgm:prSet presAssocID="{72146437-9435-4107-BDCB-AC497479B522}" presName="parentLeftMargin" presStyleLbl="node1" presStyleIdx="0" presStyleCnt="4"/>
      <dgm:spPr/>
    </dgm:pt>
    <dgm:pt modelId="{CF939422-4136-C14B-A77E-231C078DB8B2}" type="pres">
      <dgm:prSet presAssocID="{72146437-9435-4107-BDCB-AC497479B52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990DED7-494F-B641-9E7B-9C3F90420422}" type="pres">
      <dgm:prSet presAssocID="{72146437-9435-4107-BDCB-AC497479B522}" presName="negativeSpace" presStyleCnt="0"/>
      <dgm:spPr/>
    </dgm:pt>
    <dgm:pt modelId="{71BEB0F3-EBE0-5F4B-8673-CBEBF08CF972}" type="pres">
      <dgm:prSet presAssocID="{72146437-9435-4107-BDCB-AC497479B522}" presName="childText" presStyleLbl="conFgAcc1" presStyleIdx="0" presStyleCnt="4">
        <dgm:presLayoutVars>
          <dgm:bulletEnabled val="1"/>
        </dgm:presLayoutVars>
      </dgm:prSet>
      <dgm:spPr/>
    </dgm:pt>
    <dgm:pt modelId="{B50A09EB-6F94-AF4C-8F8C-C2BD0009A87A}" type="pres">
      <dgm:prSet presAssocID="{5BF3AF5A-C430-4E11-B3C4-5DFE29FB4708}" presName="spaceBetweenRectangles" presStyleCnt="0"/>
      <dgm:spPr/>
    </dgm:pt>
    <dgm:pt modelId="{314CC1FC-235E-464F-A747-7486CE0CC4EA}" type="pres">
      <dgm:prSet presAssocID="{2408DA9C-A3E2-4FF2-A605-372382A1D760}" presName="parentLin" presStyleCnt="0"/>
      <dgm:spPr/>
    </dgm:pt>
    <dgm:pt modelId="{E308DE2E-1197-3B4D-89C7-639FB9148198}" type="pres">
      <dgm:prSet presAssocID="{2408DA9C-A3E2-4FF2-A605-372382A1D760}" presName="parentLeftMargin" presStyleLbl="node1" presStyleIdx="0" presStyleCnt="4"/>
      <dgm:spPr/>
    </dgm:pt>
    <dgm:pt modelId="{CFC6F949-7A99-D146-BDEA-4FD048FF1B25}" type="pres">
      <dgm:prSet presAssocID="{2408DA9C-A3E2-4FF2-A605-372382A1D76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0AF3CAE-AAEB-F648-9E19-F69A8892D538}" type="pres">
      <dgm:prSet presAssocID="{2408DA9C-A3E2-4FF2-A605-372382A1D760}" presName="negativeSpace" presStyleCnt="0"/>
      <dgm:spPr/>
    </dgm:pt>
    <dgm:pt modelId="{296F609E-C974-7545-950D-9D32DC4D4FC4}" type="pres">
      <dgm:prSet presAssocID="{2408DA9C-A3E2-4FF2-A605-372382A1D760}" presName="childText" presStyleLbl="conFgAcc1" presStyleIdx="1" presStyleCnt="4">
        <dgm:presLayoutVars>
          <dgm:bulletEnabled val="1"/>
        </dgm:presLayoutVars>
      </dgm:prSet>
      <dgm:spPr/>
    </dgm:pt>
    <dgm:pt modelId="{428EBD7C-D983-0D43-BFB4-C3953EB66DE5}" type="pres">
      <dgm:prSet presAssocID="{23E48938-2712-4808-A0BC-96B31B64A6EF}" presName="spaceBetweenRectangles" presStyleCnt="0"/>
      <dgm:spPr/>
    </dgm:pt>
    <dgm:pt modelId="{A07BBD60-8F09-9B42-9796-FE459EE57942}" type="pres">
      <dgm:prSet presAssocID="{2102B14C-5A43-4744-A83E-87841E038D78}" presName="parentLin" presStyleCnt="0"/>
      <dgm:spPr/>
    </dgm:pt>
    <dgm:pt modelId="{498D3D9C-1A9B-A64E-807D-E0FF3D60307D}" type="pres">
      <dgm:prSet presAssocID="{2102B14C-5A43-4744-A83E-87841E038D78}" presName="parentLeftMargin" presStyleLbl="node1" presStyleIdx="1" presStyleCnt="4"/>
      <dgm:spPr/>
    </dgm:pt>
    <dgm:pt modelId="{9C69352B-E700-FF4A-ACF9-2A2FB2841F25}" type="pres">
      <dgm:prSet presAssocID="{2102B14C-5A43-4744-A83E-87841E038D7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1EEA19E-A6C6-4E43-942B-D533FD9D578C}" type="pres">
      <dgm:prSet presAssocID="{2102B14C-5A43-4744-A83E-87841E038D78}" presName="negativeSpace" presStyleCnt="0"/>
      <dgm:spPr/>
    </dgm:pt>
    <dgm:pt modelId="{712FD755-E85B-3C4D-8EC9-98FBBF7ACAB2}" type="pres">
      <dgm:prSet presAssocID="{2102B14C-5A43-4744-A83E-87841E038D78}" presName="childText" presStyleLbl="conFgAcc1" presStyleIdx="2" presStyleCnt="4">
        <dgm:presLayoutVars>
          <dgm:bulletEnabled val="1"/>
        </dgm:presLayoutVars>
      </dgm:prSet>
      <dgm:spPr/>
    </dgm:pt>
    <dgm:pt modelId="{B895B5EF-58AE-4B43-9BDD-944C89247F38}" type="pres">
      <dgm:prSet presAssocID="{6E45F443-B450-4FFA-ACD0-E4E8BA506D5E}" presName="spaceBetweenRectangles" presStyleCnt="0"/>
      <dgm:spPr/>
    </dgm:pt>
    <dgm:pt modelId="{56A45B58-A8B4-7340-9FB1-3A44B01EE078}" type="pres">
      <dgm:prSet presAssocID="{5137C022-1C47-4765-80C4-3292612E58E3}" presName="parentLin" presStyleCnt="0"/>
      <dgm:spPr/>
    </dgm:pt>
    <dgm:pt modelId="{C3F29D4E-3B70-FE4D-A872-222B26009FCE}" type="pres">
      <dgm:prSet presAssocID="{5137C022-1C47-4765-80C4-3292612E58E3}" presName="parentLeftMargin" presStyleLbl="node1" presStyleIdx="2" presStyleCnt="4"/>
      <dgm:spPr/>
    </dgm:pt>
    <dgm:pt modelId="{B76FA15F-125D-D04F-B582-ED1ED8696107}" type="pres">
      <dgm:prSet presAssocID="{5137C022-1C47-4765-80C4-3292612E58E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660C94A-7AE8-8C48-84A2-F1EEFBAC6892}" type="pres">
      <dgm:prSet presAssocID="{5137C022-1C47-4765-80C4-3292612E58E3}" presName="negativeSpace" presStyleCnt="0"/>
      <dgm:spPr/>
    </dgm:pt>
    <dgm:pt modelId="{0966CF67-5FE3-0645-B888-BE9443F309AD}" type="pres">
      <dgm:prSet presAssocID="{5137C022-1C47-4765-80C4-3292612E58E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E064106-38E8-4EE5-9215-B44852898DB2}" srcId="{2408DA9C-A3E2-4FF2-A605-372382A1D760}" destId="{D088C3C8-F2CC-4D20-9A4F-41057CEC538D}" srcOrd="2" destOrd="0" parTransId="{5BA30B42-E40A-481F-928A-07602EA14A8D}" sibTransId="{6B6DAB21-6B72-40F0-BA9D-4D9A42AC67E1}"/>
    <dgm:cxn modelId="{B9E01A0D-FAD7-474A-AF69-568A3896E705}" type="presOf" srcId="{BECB08D0-191E-49D4-8F60-788D08FD2E99}" destId="{01FE4998-01F5-4F41-A553-528AFEF4E17B}" srcOrd="0" destOrd="0" presId="urn:microsoft.com/office/officeart/2005/8/layout/list1"/>
    <dgm:cxn modelId="{390C5F16-B477-8146-8ACC-7791AC2B9551}" type="presOf" srcId="{72146437-9435-4107-BDCB-AC497479B522}" destId="{CF939422-4136-C14B-A77E-231C078DB8B2}" srcOrd="1" destOrd="0" presId="urn:microsoft.com/office/officeart/2005/8/layout/list1"/>
    <dgm:cxn modelId="{4D81A124-C989-3B4F-889E-AC472CEE4335}" type="presOf" srcId="{648FDF91-9CEB-4096-823B-F188EE926D32}" destId="{0966CF67-5FE3-0645-B888-BE9443F309AD}" srcOrd="0" destOrd="3" presId="urn:microsoft.com/office/officeart/2005/8/layout/list1"/>
    <dgm:cxn modelId="{48D5CE40-7A2F-BA42-9DC7-91401AA1999A}" type="presOf" srcId="{52122170-0D40-47CE-A3D3-FCDB8FB1F407}" destId="{712FD755-E85B-3C4D-8EC9-98FBBF7ACAB2}" srcOrd="0" destOrd="1" presId="urn:microsoft.com/office/officeart/2005/8/layout/list1"/>
    <dgm:cxn modelId="{F2955A44-C256-FD42-9F40-C908014569FE}" type="presOf" srcId="{3B3F5085-027D-4886-94A4-0A14B7A7EC84}" destId="{0966CF67-5FE3-0645-B888-BE9443F309AD}" srcOrd="0" destOrd="0" presId="urn:microsoft.com/office/officeart/2005/8/layout/list1"/>
    <dgm:cxn modelId="{E3FC2E4D-E899-9245-9F94-495DD9B9C398}" type="presOf" srcId="{2408DA9C-A3E2-4FF2-A605-372382A1D760}" destId="{CFC6F949-7A99-D146-BDEA-4FD048FF1B25}" srcOrd="1" destOrd="0" presId="urn:microsoft.com/office/officeart/2005/8/layout/list1"/>
    <dgm:cxn modelId="{29376C51-8C27-46DC-8EEC-3C982D7F86B0}" srcId="{BECB08D0-191E-49D4-8F60-788D08FD2E99}" destId="{72146437-9435-4107-BDCB-AC497479B522}" srcOrd="0" destOrd="0" parTransId="{45250D75-638F-4F04-82D3-BD8076484EFA}" sibTransId="{5BF3AF5A-C430-4E11-B3C4-5DFE29FB4708}"/>
    <dgm:cxn modelId="{CFE9DC58-EEA0-2548-80F0-2B45DDD0D6F7}" type="presOf" srcId="{5137C022-1C47-4765-80C4-3292612E58E3}" destId="{B76FA15F-125D-D04F-B582-ED1ED8696107}" srcOrd="1" destOrd="0" presId="urn:microsoft.com/office/officeart/2005/8/layout/list1"/>
    <dgm:cxn modelId="{CFECBD68-918D-1B47-8512-043E298F3C6B}" type="presOf" srcId="{2408DA9C-A3E2-4FF2-A605-372382A1D760}" destId="{E308DE2E-1197-3B4D-89C7-639FB9148198}" srcOrd="0" destOrd="0" presId="urn:microsoft.com/office/officeart/2005/8/layout/list1"/>
    <dgm:cxn modelId="{F399EB6D-474F-C24C-95F2-A7E6443AC68F}" type="presOf" srcId="{2102B14C-5A43-4744-A83E-87841E038D78}" destId="{498D3D9C-1A9B-A64E-807D-E0FF3D60307D}" srcOrd="0" destOrd="0" presId="urn:microsoft.com/office/officeart/2005/8/layout/list1"/>
    <dgm:cxn modelId="{8DCF5E71-3C94-8A44-93C8-3DA4BCD02446}" type="presOf" srcId="{4595F64A-A5B4-4928-A8C2-D0B10192369C}" destId="{712FD755-E85B-3C4D-8EC9-98FBBF7ACAB2}" srcOrd="0" destOrd="0" presId="urn:microsoft.com/office/officeart/2005/8/layout/list1"/>
    <dgm:cxn modelId="{3836DE78-381F-4542-8C3E-AE712B89FC08}" srcId="{2102B14C-5A43-4744-A83E-87841E038D78}" destId="{52122170-0D40-47CE-A3D3-FCDB8FB1F407}" srcOrd="1" destOrd="0" parTransId="{CE0425BF-B997-4A18-A247-AA8FE05B5502}" sibTransId="{0A9689D3-3F95-4447-A996-A95A0504F33A}"/>
    <dgm:cxn modelId="{C8726887-CB11-A246-93EE-548AADBCD59E}" type="presOf" srcId="{59C371FC-87BB-5640-A831-06D1890554B9}" destId="{0966CF67-5FE3-0645-B888-BE9443F309AD}" srcOrd="0" destOrd="1" presId="urn:microsoft.com/office/officeart/2005/8/layout/list1"/>
    <dgm:cxn modelId="{73C39D8D-166D-8F41-A67E-B25DEB0F36A5}" type="presOf" srcId="{2102B14C-5A43-4744-A83E-87841E038D78}" destId="{9C69352B-E700-FF4A-ACF9-2A2FB2841F25}" srcOrd="1" destOrd="0" presId="urn:microsoft.com/office/officeart/2005/8/layout/list1"/>
    <dgm:cxn modelId="{C7F28199-1F30-F845-A344-359F153D46C0}" type="presOf" srcId="{9BC20140-5173-49EA-A9D2-1DF054C8D2BD}" destId="{0966CF67-5FE3-0645-B888-BE9443F309AD}" srcOrd="0" destOrd="2" presId="urn:microsoft.com/office/officeart/2005/8/layout/list1"/>
    <dgm:cxn modelId="{37529F99-C287-8740-8CC6-DC3D939601E6}" type="presOf" srcId="{A71B4E8C-5AB8-4624-B98D-D2580C402159}" destId="{296F609E-C974-7545-950D-9D32DC4D4FC4}" srcOrd="0" destOrd="1" presId="urn:microsoft.com/office/officeart/2005/8/layout/list1"/>
    <dgm:cxn modelId="{DB39D999-CBFD-AB42-972E-031F60E666AC}" type="presOf" srcId="{D088C3C8-F2CC-4D20-9A4F-41057CEC538D}" destId="{296F609E-C974-7545-950D-9D32DC4D4FC4}" srcOrd="0" destOrd="2" presId="urn:microsoft.com/office/officeart/2005/8/layout/list1"/>
    <dgm:cxn modelId="{8E7204A8-7A1C-4A2A-A78B-3AF61D756B1F}" srcId="{BECB08D0-191E-49D4-8F60-788D08FD2E99}" destId="{5137C022-1C47-4765-80C4-3292612E58E3}" srcOrd="3" destOrd="0" parTransId="{9A142F98-A0D9-4940-B796-0D3BDE222249}" sibTransId="{B2D70557-EE3A-453E-92F3-664985BB0DFD}"/>
    <dgm:cxn modelId="{EE1EE4AA-B195-A244-8F42-2C931981E211}" type="presOf" srcId="{5137C022-1C47-4765-80C4-3292612E58E3}" destId="{C3F29D4E-3B70-FE4D-A872-222B26009FCE}" srcOrd="0" destOrd="0" presId="urn:microsoft.com/office/officeart/2005/8/layout/list1"/>
    <dgm:cxn modelId="{882BD5B1-9944-44F0-A01D-33374E8125B3}" srcId="{5137C022-1C47-4765-80C4-3292612E58E3}" destId="{648FDF91-9CEB-4096-823B-F188EE926D32}" srcOrd="3" destOrd="0" parTransId="{0E2C7C4C-8241-4AF7-82D2-9A9A3F8F8BEA}" sibTransId="{0C6F8D7E-41E3-48C2-89FF-A6EE06173980}"/>
    <dgm:cxn modelId="{4342F3B6-DA6C-B64C-9FAD-FB14B717F91B}" srcId="{5137C022-1C47-4765-80C4-3292612E58E3}" destId="{59C371FC-87BB-5640-A831-06D1890554B9}" srcOrd="1" destOrd="0" parTransId="{356F59E2-0D8F-C648-9CFB-F0F62D21E416}" sibTransId="{0876CE65-4A42-ED4B-9E98-CC5660D56FB2}"/>
    <dgm:cxn modelId="{1B1BAAD0-3259-4DAC-AACA-ADE80CEBCA0D}" srcId="{2102B14C-5A43-4744-A83E-87841E038D78}" destId="{4595F64A-A5B4-4928-A8C2-D0B10192369C}" srcOrd="0" destOrd="0" parTransId="{A3E341D2-E6D0-4FDC-9CFE-9172F278C70E}" sibTransId="{A7CF676F-D5F3-4E46-8FF2-237971E81C39}"/>
    <dgm:cxn modelId="{004625D7-6E9D-BD40-9EF3-316EBAFE744E}" type="presOf" srcId="{6212A94C-1336-4F9A-B8CB-7D8379B4B730}" destId="{296F609E-C974-7545-950D-9D32DC4D4FC4}" srcOrd="0" destOrd="0" presId="urn:microsoft.com/office/officeart/2005/8/layout/list1"/>
    <dgm:cxn modelId="{E4521DE4-2B25-4F2A-BC57-E22CE9F3E461}" srcId="{5137C022-1C47-4765-80C4-3292612E58E3}" destId="{9BC20140-5173-49EA-A9D2-1DF054C8D2BD}" srcOrd="2" destOrd="0" parTransId="{CB38D68A-4D49-4BDB-8AC3-5C91DDB89ECD}" sibTransId="{B68E12FD-8F2F-4ECA-AC97-3E06419A4449}"/>
    <dgm:cxn modelId="{055325E8-3F4D-475C-8BA6-898863B0BD58}" srcId="{2408DA9C-A3E2-4FF2-A605-372382A1D760}" destId="{A71B4E8C-5AB8-4624-B98D-D2580C402159}" srcOrd="1" destOrd="0" parTransId="{31EAD973-A8F6-4FC7-9237-D4FB449350A2}" sibTransId="{113CAA15-E565-4149-8787-2122D4CF190F}"/>
    <dgm:cxn modelId="{C521E5E9-04EC-B040-AA6D-10FC1FC384BE}" type="presOf" srcId="{72146437-9435-4107-BDCB-AC497479B522}" destId="{6A6CBC4C-FA73-6D43-B93F-56D4DA5DC754}" srcOrd="0" destOrd="0" presId="urn:microsoft.com/office/officeart/2005/8/layout/list1"/>
    <dgm:cxn modelId="{393D38EE-AC70-45CB-B52A-676494CC329C}" srcId="{5137C022-1C47-4765-80C4-3292612E58E3}" destId="{3B3F5085-027D-4886-94A4-0A14B7A7EC84}" srcOrd="0" destOrd="0" parTransId="{ECC59194-65A2-4336-B07B-82947F83ACD1}" sibTransId="{E27B238F-DE5C-4506-8927-CE57B2162671}"/>
    <dgm:cxn modelId="{C9E06FEF-FEC3-4A69-973F-26A76B1D842E}" srcId="{BECB08D0-191E-49D4-8F60-788D08FD2E99}" destId="{2102B14C-5A43-4744-A83E-87841E038D78}" srcOrd="2" destOrd="0" parTransId="{9C96EED2-60A2-46C2-BABA-4028D5CB4A5B}" sibTransId="{6E45F443-B450-4FFA-ACD0-E4E8BA506D5E}"/>
    <dgm:cxn modelId="{D68C1DFA-3685-4E3A-A6F6-7A5679B7A8B6}" srcId="{2408DA9C-A3E2-4FF2-A605-372382A1D760}" destId="{6212A94C-1336-4F9A-B8CB-7D8379B4B730}" srcOrd="0" destOrd="0" parTransId="{635C6F79-6B5B-42B6-9EA6-F3D45FF50C93}" sibTransId="{F62D8BB5-D30C-4704-8776-7DD745A28BC9}"/>
    <dgm:cxn modelId="{2F9192FC-8289-4BCA-BC8B-B59F51347185}" srcId="{BECB08D0-191E-49D4-8F60-788D08FD2E99}" destId="{2408DA9C-A3E2-4FF2-A605-372382A1D760}" srcOrd="1" destOrd="0" parTransId="{E9A5D7D0-F1CE-4318-8455-F3C62E48E78D}" sibTransId="{23E48938-2712-4808-A0BC-96B31B64A6EF}"/>
    <dgm:cxn modelId="{2FBEC3F1-3877-3B42-832B-8B961DA1A57B}" type="presParOf" srcId="{01FE4998-01F5-4F41-A553-528AFEF4E17B}" destId="{1AD16783-D82F-5B41-B35D-CFBECB112247}" srcOrd="0" destOrd="0" presId="urn:microsoft.com/office/officeart/2005/8/layout/list1"/>
    <dgm:cxn modelId="{BD714A11-606D-5B4E-9ABA-CFDC310C41C3}" type="presParOf" srcId="{1AD16783-D82F-5B41-B35D-CFBECB112247}" destId="{6A6CBC4C-FA73-6D43-B93F-56D4DA5DC754}" srcOrd="0" destOrd="0" presId="urn:microsoft.com/office/officeart/2005/8/layout/list1"/>
    <dgm:cxn modelId="{647E7FC1-4D43-3042-8F06-C828AAAF6B9B}" type="presParOf" srcId="{1AD16783-D82F-5B41-B35D-CFBECB112247}" destId="{CF939422-4136-C14B-A77E-231C078DB8B2}" srcOrd="1" destOrd="0" presId="urn:microsoft.com/office/officeart/2005/8/layout/list1"/>
    <dgm:cxn modelId="{4E6A5E10-AFBD-2947-AC33-880DF4895FFB}" type="presParOf" srcId="{01FE4998-01F5-4F41-A553-528AFEF4E17B}" destId="{1990DED7-494F-B641-9E7B-9C3F90420422}" srcOrd="1" destOrd="0" presId="urn:microsoft.com/office/officeart/2005/8/layout/list1"/>
    <dgm:cxn modelId="{6A8FAE1E-2CF5-3C4A-B583-52B052D28AE4}" type="presParOf" srcId="{01FE4998-01F5-4F41-A553-528AFEF4E17B}" destId="{71BEB0F3-EBE0-5F4B-8673-CBEBF08CF972}" srcOrd="2" destOrd="0" presId="urn:microsoft.com/office/officeart/2005/8/layout/list1"/>
    <dgm:cxn modelId="{EBE4A657-6A85-3745-95B5-A1FBED66E22C}" type="presParOf" srcId="{01FE4998-01F5-4F41-A553-528AFEF4E17B}" destId="{B50A09EB-6F94-AF4C-8F8C-C2BD0009A87A}" srcOrd="3" destOrd="0" presId="urn:microsoft.com/office/officeart/2005/8/layout/list1"/>
    <dgm:cxn modelId="{276234DA-D471-FF45-BCDF-E95406646C0F}" type="presParOf" srcId="{01FE4998-01F5-4F41-A553-528AFEF4E17B}" destId="{314CC1FC-235E-464F-A747-7486CE0CC4EA}" srcOrd="4" destOrd="0" presId="urn:microsoft.com/office/officeart/2005/8/layout/list1"/>
    <dgm:cxn modelId="{DDB08FA9-BD1B-ED44-8769-C955BF6A85CC}" type="presParOf" srcId="{314CC1FC-235E-464F-A747-7486CE0CC4EA}" destId="{E308DE2E-1197-3B4D-89C7-639FB9148198}" srcOrd="0" destOrd="0" presId="urn:microsoft.com/office/officeart/2005/8/layout/list1"/>
    <dgm:cxn modelId="{9FE38FE0-76FF-2A4F-AC42-27A257A0BE05}" type="presParOf" srcId="{314CC1FC-235E-464F-A747-7486CE0CC4EA}" destId="{CFC6F949-7A99-D146-BDEA-4FD048FF1B25}" srcOrd="1" destOrd="0" presId="urn:microsoft.com/office/officeart/2005/8/layout/list1"/>
    <dgm:cxn modelId="{EA66D5DC-A496-F64C-B2E8-763F1DF91D7D}" type="presParOf" srcId="{01FE4998-01F5-4F41-A553-528AFEF4E17B}" destId="{70AF3CAE-AAEB-F648-9E19-F69A8892D538}" srcOrd="5" destOrd="0" presId="urn:microsoft.com/office/officeart/2005/8/layout/list1"/>
    <dgm:cxn modelId="{C3C729B7-E30A-DE46-B9DC-20E875F6A6C1}" type="presParOf" srcId="{01FE4998-01F5-4F41-A553-528AFEF4E17B}" destId="{296F609E-C974-7545-950D-9D32DC4D4FC4}" srcOrd="6" destOrd="0" presId="urn:microsoft.com/office/officeart/2005/8/layout/list1"/>
    <dgm:cxn modelId="{C82D2E22-4EDE-1240-8792-7EED06BD932E}" type="presParOf" srcId="{01FE4998-01F5-4F41-A553-528AFEF4E17B}" destId="{428EBD7C-D983-0D43-BFB4-C3953EB66DE5}" srcOrd="7" destOrd="0" presId="urn:microsoft.com/office/officeart/2005/8/layout/list1"/>
    <dgm:cxn modelId="{C3270518-FAB3-1042-8F20-0B8C72EDC29B}" type="presParOf" srcId="{01FE4998-01F5-4F41-A553-528AFEF4E17B}" destId="{A07BBD60-8F09-9B42-9796-FE459EE57942}" srcOrd="8" destOrd="0" presId="urn:microsoft.com/office/officeart/2005/8/layout/list1"/>
    <dgm:cxn modelId="{05BF61AA-0791-174D-8000-16632DCD3F2D}" type="presParOf" srcId="{A07BBD60-8F09-9B42-9796-FE459EE57942}" destId="{498D3D9C-1A9B-A64E-807D-E0FF3D60307D}" srcOrd="0" destOrd="0" presId="urn:microsoft.com/office/officeart/2005/8/layout/list1"/>
    <dgm:cxn modelId="{9A402A2A-CA15-544B-BF0E-5827C16082A8}" type="presParOf" srcId="{A07BBD60-8F09-9B42-9796-FE459EE57942}" destId="{9C69352B-E700-FF4A-ACF9-2A2FB2841F25}" srcOrd="1" destOrd="0" presId="urn:microsoft.com/office/officeart/2005/8/layout/list1"/>
    <dgm:cxn modelId="{98A81812-E60F-AF4C-9F4D-11E276CC6EA0}" type="presParOf" srcId="{01FE4998-01F5-4F41-A553-528AFEF4E17B}" destId="{31EEA19E-A6C6-4E43-942B-D533FD9D578C}" srcOrd="9" destOrd="0" presId="urn:microsoft.com/office/officeart/2005/8/layout/list1"/>
    <dgm:cxn modelId="{3CE1C7C8-8646-A84F-881A-2351051D34BA}" type="presParOf" srcId="{01FE4998-01F5-4F41-A553-528AFEF4E17B}" destId="{712FD755-E85B-3C4D-8EC9-98FBBF7ACAB2}" srcOrd="10" destOrd="0" presId="urn:microsoft.com/office/officeart/2005/8/layout/list1"/>
    <dgm:cxn modelId="{B3E0B3E6-D6FF-D146-8FB1-ADE5F41AE2AD}" type="presParOf" srcId="{01FE4998-01F5-4F41-A553-528AFEF4E17B}" destId="{B895B5EF-58AE-4B43-9BDD-944C89247F38}" srcOrd="11" destOrd="0" presId="urn:microsoft.com/office/officeart/2005/8/layout/list1"/>
    <dgm:cxn modelId="{4955FA53-E36A-314D-AA26-3D8A63C188A3}" type="presParOf" srcId="{01FE4998-01F5-4F41-A553-528AFEF4E17B}" destId="{56A45B58-A8B4-7340-9FB1-3A44B01EE078}" srcOrd="12" destOrd="0" presId="urn:microsoft.com/office/officeart/2005/8/layout/list1"/>
    <dgm:cxn modelId="{F181F39B-54C3-484C-9F33-DF3BFBD028DF}" type="presParOf" srcId="{56A45B58-A8B4-7340-9FB1-3A44B01EE078}" destId="{C3F29D4E-3B70-FE4D-A872-222B26009FCE}" srcOrd="0" destOrd="0" presId="urn:microsoft.com/office/officeart/2005/8/layout/list1"/>
    <dgm:cxn modelId="{EE679664-B5FC-B64C-8915-26C21A960550}" type="presParOf" srcId="{56A45B58-A8B4-7340-9FB1-3A44B01EE078}" destId="{B76FA15F-125D-D04F-B582-ED1ED8696107}" srcOrd="1" destOrd="0" presId="urn:microsoft.com/office/officeart/2005/8/layout/list1"/>
    <dgm:cxn modelId="{34082973-07C4-934D-96D9-E7ABEAEF5DB6}" type="presParOf" srcId="{01FE4998-01F5-4F41-A553-528AFEF4E17B}" destId="{9660C94A-7AE8-8C48-84A2-F1EEFBAC6892}" srcOrd="13" destOrd="0" presId="urn:microsoft.com/office/officeart/2005/8/layout/list1"/>
    <dgm:cxn modelId="{3F9D2E5F-D0C9-4041-835A-612823AE2897}" type="presParOf" srcId="{01FE4998-01F5-4F41-A553-528AFEF4E17B}" destId="{0966CF67-5FE3-0645-B888-BE9443F309A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A21C41-A926-4410-8F54-A5F2A38B3823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DAD2EF7-8FCC-4FDF-9A42-E51DD6F6CDF4}">
      <dgm:prSet/>
      <dgm:spPr/>
      <dgm:t>
        <a:bodyPr/>
        <a:lstStyle/>
        <a:p>
          <a:r>
            <a:rPr lang="en-US"/>
            <a:t>Main Challenge:</a:t>
          </a:r>
        </a:p>
      </dgm:t>
    </dgm:pt>
    <dgm:pt modelId="{B3F0AFB9-B82C-4F50-AEAC-B0B4ABB3BA8A}" type="parTrans" cxnId="{59B119B6-CBC8-44FC-85B6-8652F677362D}">
      <dgm:prSet/>
      <dgm:spPr/>
      <dgm:t>
        <a:bodyPr/>
        <a:lstStyle/>
        <a:p>
          <a:endParaRPr lang="en-US"/>
        </a:p>
      </dgm:t>
    </dgm:pt>
    <dgm:pt modelId="{DB09ED9E-3F21-440F-9E5B-559A85362913}" type="sibTrans" cxnId="{59B119B6-CBC8-44FC-85B6-8652F677362D}">
      <dgm:prSet/>
      <dgm:spPr/>
      <dgm:t>
        <a:bodyPr/>
        <a:lstStyle/>
        <a:p>
          <a:endParaRPr lang="en-US"/>
        </a:p>
      </dgm:t>
    </dgm:pt>
    <dgm:pt modelId="{81E0D733-74BB-465E-937E-9F6FB66E8C78}">
      <dgm:prSet/>
      <dgm:spPr/>
      <dgm:t>
        <a:bodyPr/>
        <a:lstStyle/>
        <a:p>
          <a:r>
            <a:rPr lang="en-US" dirty="0"/>
            <a:t>The dataset contains many correlated numeric variables that alter clustering and raise dimensionality.</a:t>
          </a:r>
        </a:p>
      </dgm:t>
    </dgm:pt>
    <dgm:pt modelId="{0DA8CEC9-9AB3-471E-AEB3-E6129EEDA3FF}" type="parTrans" cxnId="{66127483-5FE0-430C-85E4-AB2F3D40BA31}">
      <dgm:prSet/>
      <dgm:spPr/>
      <dgm:t>
        <a:bodyPr/>
        <a:lstStyle/>
        <a:p>
          <a:endParaRPr lang="en-US"/>
        </a:p>
      </dgm:t>
    </dgm:pt>
    <dgm:pt modelId="{F34F5741-4DE0-4545-9D59-D985FEB34A36}" type="sibTrans" cxnId="{66127483-5FE0-430C-85E4-AB2F3D40BA31}">
      <dgm:prSet/>
      <dgm:spPr/>
      <dgm:t>
        <a:bodyPr/>
        <a:lstStyle/>
        <a:p>
          <a:endParaRPr lang="en-US"/>
        </a:p>
      </dgm:t>
    </dgm:pt>
    <dgm:pt modelId="{17A9F702-0865-4B78-AF5D-D9795D2A2A15}">
      <dgm:prSet/>
      <dgm:spPr/>
      <dgm:t>
        <a:bodyPr/>
        <a:lstStyle/>
        <a:p>
          <a:r>
            <a:rPr lang="en-US"/>
            <a:t>Solution:</a:t>
          </a:r>
        </a:p>
      </dgm:t>
    </dgm:pt>
    <dgm:pt modelId="{FF9C31F8-3823-4C50-AD23-3333EB9F0BF5}" type="parTrans" cxnId="{A5AD2944-6DE7-41EA-A916-330C94DCB6A6}">
      <dgm:prSet/>
      <dgm:spPr/>
      <dgm:t>
        <a:bodyPr/>
        <a:lstStyle/>
        <a:p>
          <a:endParaRPr lang="en-US"/>
        </a:p>
      </dgm:t>
    </dgm:pt>
    <dgm:pt modelId="{07082AA8-FB2A-4DEB-9549-6E232B33C781}" type="sibTrans" cxnId="{A5AD2944-6DE7-41EA-A916-330C94DCB6A6}">
      <dgm:prSet/>
      <dgm:spPr/>
      <dgm:t>
        <a:bodyPr/>
        <a:lstStyle/>
        <a:p>
          <a:endParaRPr lang="en-US"/>
        </a:p>
      </dgm:t>
    </dgm:pt>
    <dgm:pt modelId="{2C1AC57B-AD41-4938-9FF7-8736C4FE189E}">
      <dgm:prSet/>
      <dgm:spPr/>
      <dgm:t>
        <a:bodyPr/>
        <a:lstStyle/>
        <a:p>
          <a:r>
            <a:rPr lang="en-US" dirty="0"/>
            <a:t>Apply PCA first to compress size-related variables into components, then run K-Means on PC space, which produced much clearer, more interpretable clusters.</a:t>
          </a:r>
        </a:p>
      </dgm:t>
    </dgm:pt>
    <dgm:pt modelId="{BF9F85AD-1C23-46E0-AC30-17BFD251E4EA}" type="parTrans" cxnId="{A6085F22-DADF-4E3A-8CC6-3D0E942A6AAE}">
      <dgm:prSet/>
      <dgm:spPr/>
      <dgm:t>
        <a:bodyPr/>
        <a:lstStyle/>
        <a:p>
          <a:endParaRPr lang="en-US"/>
        </a:p>
      </dgm:t>
    </dgm:pt>
    <dgm:pt modelId="{A12CE0A5-6D27-459A-B509-BD08C38A6ADD}" type="sibTrans" cxnId="{A6085F22-DADF-4E3A-8CC6-3D0E942A6AAE}">
      <dgm:prSet/>
      <dgm:spPr/>
      <dgm:t>
        <a:bodyPr/>
        <a:lstStyle/>
        <a:p>
          <a:endParaRPr lang="en-US"/>
        </a:p>
      </dgm:t>
    </dgm:pt>
    <dgm:pt modelId="{B877D63B-2507-FB43-8E9B-A4AA6EB73E0C}" type="pres">
      <dgm:prSet presAssocID="{AEA21C41-A926-4410-8F54-A5F2A38B3823}" presName="vert0" presStyleCnt="0">
        <dgm:presLayoutVars>
          <dgm:dir/>
          <dgm:animOne val="branch"/>
          <dgm:animLvl val="lvl"/>
        </dgm:presLayoutVars>
      </dgm:prSet>
      <dgm:spPr/>
    </dgm:pt>
    <dgm:pt modelId="{76BB4DFC-AF3C-3844-B8CB-E87A0CC7C529}" type="pres">
      <dgm:prSet presAssocID="{8DAD2EF7-8FCC-4FDF-9A42-E51DD6F6CDF4}" presName="thickLine" presStyleLbl="alignNode1" presStyleIdx="0" presStyleCnt="2"/>
      <dgm:spPr/>
    </dgm:pt>
    <dgm:pt modelId="{7AB689E0-7CF6-B84C-B944-15D012CA4B29}" type="pres">
      <dgm:prSet presAssocID="{8DAD2EF7-8FCC-4FDF-9A42-E51DD6F6CDF4}" presName="horz1" presStyleCnt="0"/>
      <dgm:spPr/>
    </dgm:pt>
    <dgm:pt modelId="{625FE930-BE85-8B47-8186-B9CEDE089BDF}" type="pres">
      <dgm:prSet presAssocID="{8DAD2EF7-8FCC-4FDF-9A42-E51DD6F6CDF4}" presName="tx1" presStyleLbl="revTx" presStyleIdx="0" presStyleCnt="4"/>
      <dgm:spPr/>
    </dgm:pt>
    <dgm:pt modelId="{53B9FB79-1542-E442-AFA1-F8A33220BEE8}" type="pres">
      <dgm:prSet presAssocID="{8DAD2EF7-8FCC-4FDF-9A42-E51DD6F6CDF4}" presName="vert1" presStyleCnt="0"/>
      <dgm:spPr/>
    </dgm:pt>
    <dgm:pt modelId="{1296B596-97E5-C64A-ABF6-0CEB54B598A2}" type="pres">
      <dgm:prSet presAssocID="{81E0D733-74BB-465E-937E-9F6FB66E8C78}" presName="vertSpace2a" presStyleCnt="0"/>
      <dgm:spPr/>
    </dgm:pt>
    <dgm:pt modelId="{0A479206-7333-434E-A9B6-5DB3F01817F2}" type="pres">
      <dgm:prSet presAssocID="{81E0D733-74BB-465E-937E-9F6FB66E8C78}" presName="horz2" presStyleCnt="0"/>
      <dgm:spPr/>
    </dgm:pt>
    <dgm:pt modelId="{07DA63A4-8129-BF43-AAAD-FFDDA8DEB5D2}" type="pres">
      <dgm:prSet presAssocID="{81E0D733-74BB-465E-937E-9F6FB66E8C78}" presName="horzSpace2" presStyleCnt="0"/>
      <dgm:spPr/>
    </dgm:pt>
    <dgm:pt modelId="{8343B064-5FA5-3B49-B7CB-73B43C13A68D}" type="pres">
      <dgm:prSet presAssocID="{81E0D733-74BB-465E-937E-9F6FB66E8C78}" presName="tx2" presStyleLbl="revTx" presStyleIdx="1" presStyleCnt="4"/>
      <dgm:spPr/>
    </dgm:pt>
    <dgm:pt modelId="{AA51C334-1FE9-F543-91FB-E211B6F74945}" type="pres">
      <dgm:prSet presAssocID="{81E0D733-74BB-465E-937E-9F6FB66E8C78}" presName="vert2" presStyleCnt="0"/>
      <dgm:spPr/>
    </dgm:pt>
    <dgm:pt modelId="{B92D307B-353E-EE4B-B9E8-691CBE1D65C7}" type="pres">
      <dgm:prSet presAssocID="{81E0D733-74BB-465E-937E-9F6FB66E8C78}" presName="thinLine2b" presStyleLbl="callout" presStyleIdx="0" presStyleCnt="2"/>
      <dgm:spPr/>
    </dgm:pt>
    <dgm:pt modelId="{9777B100-2947-E046-A00D-605EABE42CC3}" type="pres">
      <dgm:prSet presAssocID="{81E0D733-74BB-465E-937E-9F6FB66E8C78}" presName="vertSpace2b" presStyleCnt="0"/>
      <dgm:spPr/>
    </dgm:pt>
    <dgm:pt modelId="{4FC0A057-09AE-3248-B63B-8160C126342D}" type="pres">
      <dgm:prSet presAssocID="{17A9F702-0865-4B78-AF5D-D9795D2A2A15}" presName="thickLine" presStyleLbl="alignNode1" presStyleIdx="1" presStyleCnt="2"/>
      <dgm:spPr/>
    </dgm:pt>
    <dgm:pt modelId="{1E9BF9FC-5135-334D-86EB-E56AEDF1E16A}" type="pres">
      <dgm:prSet presAssocID="{17A9F702-0865-4B78-AF5D-D9795D2A2A15}" presName="horz1" presStyleCnt="0"/>
      <dgm:spPr/>
    </dgm:pt>
    <dgm:pt modelId="{1EB4D5C4-8CB6-1049-BC75-50253CDD5883}" type="pres">
      <dgm:prSet presAssocID="{17A9F702-0865-4B78-AF5D-D9795D2A2A15}" presName="tx1" presStyleLbl="revTx" presStyleIdx="2" presStyleCnt="4"/>
      <dgm:spPr/>
    </dgm:pt>
    <dgm:pt modelId="{4ECAE854-A7A8-5449-979B-F22E2B20CDFF}" type="pres">
      <dgm:prSet presAssocID="{17A9F702-0865-4B78-AF5D-D9795D2A2A15}" presName="vert1" presStyleCnt="0"/>
      <dgm:spPr/>
    </dgm:pt>
    <dgm:pt modelId="{2FA60C66-2C7C-A543-B4B9-E2F46829F08A}" type="pres">
      <dgm:prSet presAssocID="{2C1AC57B-AD41-4938-9FF7-8736C4FE189E}" presName="vertSpace2a" presStyleCnt="0"/>
      <dgm:spPr/>
    </dgm:pt>
    <dgm:pt modelId="{AFE986CC-EC60-C141-8B00-B493CB378DDA}" type="pres">
      <dgm:prSet presAssocID="{2C1AC57B-AD41-4938-9FF7-8736C4FE189E}" presName="horz2" presStyleCnt="0"/>
      <dgm:spPr/>
    </dgm:pt>
    <dgm:pt modelId="{595946BE-0D4A-7D49-8C44-C13D44D382C0}" type="pres">
      <dgm:prSet presAssocID="{2C1AC57B-AD41-4938-9FF7-8736C4FE189E}" presName="horzSpace2" presStyleCnt="0"/>
      <dgm:spPr/>
    </dgm:pt>
    <dgm:pt modelId="{07069470-8C0A-5744-AC59-8046A255B57D}" type="pres">
      <dgm:prSet presAssocID="{2C1AC57B-AD41-4938-9FF7-8736C4FE189E}" presName="tx2" presStyleLbl="revTx" presStyleIdx="3" presStyleCnt="4"/>
      <dgm:spPr/>
    </dgm:pt>
    <dgm:pt modelId="{15513D18-EF6F-AD43-AB20-610AC6BC9907}" type="pres">
      <dgm:prSet presAssocID="{2C1AC57B-AD41-4938-9FF7-8736C4FE189E}" presName="vert2" presStyleCnt="0"/>
      <dgm:spPr/>
    </dgm:pt>
    <dgm:pt modelId="{5DC4DD76-E80E-5B48-AAFE-191929068F12}" type="pres">
      <dgm:prSet presAssocID="{2C1AC57B-AD41-4938-9FF7-8736C4FE189E}" presName="thinLine2b" presStyleLbl="callout" presStyleIdx="1" presStyleCnt="2"/>
      <dgm:spPr/>
    </dgm:pt>
    <dgm:pt modelId="{8F7B50C8-E2C4-7045-8D4F-FF49B31F5B0E}" type="pres">
      <dgm:prSet presAssocID="{2C1AC57B-AD41-4938-9FF7-8736C4FE189E}" presName="vertSpace2b" presStyleCnt="0"/>
      <dgm:spPr/>
    </dgm:pt>
  </dgm:ptLst>
  <dgm:cxnLst>
    <dgm:cxn modelId="{6AE78A03-146B-FB43-BBB0-25E1CE5B3EAC}" type="presOf" srcId="{17A9F702-0865-4B78-AF5D-D9795D2A2A15}" destId="{1EB4D5C4-8CB6-1049-BC75-50253CDD5883}" srcOrd="0" destOrd="0" presId="urn:microsoft.com/office/officeart/2008/layout/LinedList"/>
    <dgm:cxn modelId="{7AC66A16-BC37-7640-9757-68ADD17B5991}" type="presOf" srcId="{8DAD2EF7-8FCC-4FDF-9A42-E51DD6F6CDF4}" destId="{625FE930-BE85-8B47-8186-B9CEDE089BDF}" srcOrd="0" destOrd="0" presId="urn:microsoft.com/office/officeart/2008/layout/LinedList"/>
    <dgm:cxn modelId="{A6085F22-DADF-4E3A-8CC6-3D0E942A6AAE}" srcId="{17A9F702-0865-4B78-AF5D-D9795D2A2A15}" destId="{2C1AC57B-AD41-4938-9FF7-8736C4FE189E}" srcOrd="0" destOrd="0" parTransId="{BF9F85AD-1C23-46E0-AC30-17BFD251E4EA}" sibTransId="{A12CE0A5-6D27-459A-B509-BD08C38A6ADD}"/>
    <dgm:cxn modelId="{A5AD2944-6DE7-41EA-A916-330C94DCB6A6}" srcId="{AEA21C41-A926-4410-8F54-A5F2A38B3823}" destId="{17A9F702-0865-4B78-AF5D-D9795D2A2A15}" srcOrd="1" destOrd="0" parTransId="{FF9C31F8-3823-4C50-AD23-3333EB9F0BF5}" sibTransId="{07082AA8-FB2A-4DEB-9549-6E232B33C781}"/>
    <dgm:cxn modelId="{66127483-5FE0-430C-85E4-AB2F3D40BA31}" srcId="{8DAD2EF7-8FCC-4FDF-9A42-E51DD6F6CDF4}" destId="{81E0D733-74BB-465E-937E-9F6FB66E8C78}" srcOrd="0" destOrd="0" parTransId="{0DA8CEC9-9AB3-471E-AEB3-E6129EEDA3FF}" sibTransId="{F34F5741-4DE0-4545-9D59-D985FEB34A36}"/>
    <dgm:cxn modelId="{585DF1AB-5570-DA4E-A47C-8B0440FC49D0}" type="presOf" srcId="{81E0D733-74BB-465E-937E-9F6FB66E8C78}" destId="{8343B064-5FA5-3B49-B7CB-73B43C13A68D}" srcOrd="0" destOrd="0" presId="urn:microsoft.com/office/officeart/2008/layout/LinedList"/>
    <dgm:cxn modelId="{59B119B6-CBC8-44FC-85B6-8652F677362D}" srcId="{AEA21C41-A926-4410-8F54-A5F2A38B3823}" destId="{8DAD2EF7-8FCC-4FDF-9A42-E51DD6F6CDF4}" srcOrd="0" destOrd="0" parTransId="{B3F0AFB9-B82C-4F50-AEAC-B0B4ABB3BA8A}" sibTransId="{DB09ED9E-3F21-440F-9E5B-559A85362913}"/>
    <dgm:cxn modelId="{3F3101BD-85A7-254E-B776-2B060C0E9C31}" type="presOf" srcId="{AEA21C41-A926-4410-8F54-A5F2A38B3823}" destId="{B877D63B-2507-FB43-8E9B-A4AA6EB73E0C}" srcOrd="0" destOrd="0" presId="urn:microsoft.com/office/officeart/2008/layout/LinedList"/>
    <dgm:cxn modelId="{B4342AFC-0795-9342-9591-813721EADAE4}" type="presOf" srcId="{2C1AC57B-AD41-4938-9FF7-8736C4FE189E}" destId="{07069470-8C0A-5744-AC59-8046A255B57D}" srcOrd="0" destOrd="0" presId="urn:microsoft.com/office/officeart/2008/layout/LinedList"/>
    <dgm:cxn modelId="{6CAB5E95-C791-BA48-B348-D9B5D5610C1E}" type="presParOf" srcId="{B877D63B-2507-FB43-8E9B-A4AA6EB73E0C}" destId="{76BB4DFC-AF3C-3844-B8CB-E87A0CC7C529}" srcOrd="0" destOrd="0" presId="urn:microsoft.com/office/officeart/2008/layout/LinedList"/>
    <dgm:cxn modelId="{06F2722A-07F9-9C46-BD0F-820D8C54E8D3}" type="presParOf" srcId="{B877D63B-2507-FB43-8E9B-A4AA6EB73E0C}" destId="{7AB689E0-7CF6-B84C-B944-15D012CA4B29}" srcOrd="1" destOrd="0" presId="urn:microsoft.com/office/officeart/2008/layout/LinedList"/>
    <dgm:cxn modelId="{033D1FA4-BDCB-7245-94F4-ED77821338B5}" type="presParOf" srcId="{7AB689E0-7CF6-B84C-B944-15D012CA4B29}" destId="{625FE930-BE85-8B47-8186-B9CEDE089BDF}" srcOrd="0" destOrd="0" presId="urn:microsoft.com/office/officeart/2008/layout/LinedList"/>
    <dgm:cxn modelId="{8E318BE8-61FE-E242-B3DE-051A1D57FA28}" type="presParOf" srcId="{7AB689E0-7CF6-B84C-B944-15D012CA4B29}" destId="{53B9FB79-1542-E442-AFA1-F8A33220BEE8}" srcOrd="1" destOrd="0" presId="urn:microsoft.com/office/officeart/2008/layout/LinedList"/>
    <dgm:cxn modelId="{7CD8791D-A90D-A14F-B6DD-9D13084CDECD}" type="presParOf" srcId="{53B9FB79-1542-E442-AFA1-F8A33220BEE8}" destId="{1296B596-97E5-C64A-ABF6-0CEB54B598A2}" srcOrd="0" destOrd="0" presId="urn:microsoft.com/office/officeart/2008/layout/LinedList"/>
    <dgm:cxn modelId="{6AA4FAA6-9FD6-9544-ABAC-C456BEC6666B}" type="presParOf" srcId="{53B9FB79-1542-E442-AFA1-F8A33220BEE8}" destId="{0A479206-7333-434E-A9B6-5DB3F01817F2}" srcOrd="1" destOrd="0" presId="urn:microsoft.com/office/officeart/2008/layout/LinedList"/>
    <dgm:cxn modelId="{B308403E-1FD5-5C43-B57D-82F0583A7089}" type="presParOf" srcId="{0A479206-7333-434E-A9B6-5DB3F01817F2}" destId="{07DA63A4-8129-BF43-AAAD-FFDDA8DEB5D2}" srcOrd="0" destOrd="0" presId="urn:microsoft.com/office/officeart/2008/layout/LinedList"/>
    <dgm:cxn modelId="{E6374426-5A70-DA4D-94CB-800743798576}" type="presParOf" srcId="{0A479206-7333-434E-A9B6-5DB3F01817F2}" destId="{8343B064-5FA5-3B49-B7CB-73B43C13A68D}" srcOrd="1" destOrd="0" presId="urn:microsoft.com/office/officeart/2008/layout/LinedList"/>
    <dgm:cxn modelId="{53FA38AB-4229-A246-919C-7165A62B6AEC}" type="presParOf" srcId="{0A479206-7333-434E-A9B6-5DB3F01817F2}" destId="{AA51C334-1FE9-F543-91FB-E211B6F74945}" srcOrd="2" destOrd="0" presId="urn:microsoft.com/office/officeart/2008/layout/LinedList"/>
    <dgm:cxn modelId="{02130B1D-9B45-9A48-8589-2B5DFE927FE7}" type="presParOf" srcId="{53B9FB79-1542-E442-AFA1-F8A33220BEE8}" destId="{B92D307B-353E-EE4B-B9E8-691CBE1D65C7}" srcOrd="2" destOrd="0" presId="urn:microsoft.com/office/officeart/2008/layout/LinedList"/>
    <dgm:cxn modelId="{162E1318-9497-554E-9030-E8B5C5693D20}" type="presParOf" srcId="{53B9FB79-1542-E442-AFA1-F8A33220BEE8}" destId="{9777B100-2947-E046-A00D-605EABE42CC3}" srcOrd="3" destOrd="0" presId="urn:microsoft.com/office/officeart/2008/layout/LinedList"/>
    <dgm:cxn modelId="{AE9B8304-58B0-5748-901E-6D8010E68BD6}" type="presParOf" srcId="{B877D63B-2507-FB43-8E9B-A4AA6EB73E0C}" destId="{4FC0A057-09AE-3248-B63B-8160C126342D}" srcOrd="2" destOrd="0" presId="urn:microsoft.com/office/officeart/2008/layout/LinedList"/>
    <dgm:cxn modelId="{89346D80-E9E5-BB4A-955F-424D7CCA71C9}" type="presParOf" srcId="{B877D63B-2507-FB43-8E9B-A4AA6EB73E0C}" destId="{1E9BF9FC-5135-334D-86EB-E56AEDF1E16A}" srcOrd="3" destOrd="0" presId="urn:microsoft.com/office/officeart/2008/layout/LinedList"/>
    <dgm:cxn modelId="{385A6594-06E0-8D44-9B27-CE8088C6A60E}" type="presParOf" srcId="{1E9BF9FC-5135-334D-86EB-E56AEDF1E16A}" destId="{1EB4D5C4-8CB6-1049-BC75-50253CDD5883}" srcOrd="0" destOrd="0" presId="urn:microsoft.com/office/officeart/2008/layout/LinedList"/>
    <dgm:cxn modelId="{DAF145BA-9D40-944D-80EF-27E273E06A4E}" type="presParOf" srcId="{1E9BF9FC-5135-334D-86EB-E56AEDF1E16A}" destId="{4ECAE854-A7A8-5449-979B-F22E2B20CDFF}" srcOrd="1" destOrd="0" presId="urn:microsoft.com/office/officeart/2008/layout/LinedList"/>
    <dgm:cxn modelId="{C7E8FD9F-9339-214E-B9CE-0B8D8878A4A3}" type="presParOf" srcId="{4ECAE854-A7A8-5449-979B-F22E2B20CDFF}" destId="{2FA60C66-2C7C-A543-B4B9-E2F46829F08A}" srcOrd="0" destOrd="0" presId="urn:microsoft.com/office/officeart/2008/layout/LinedList"/>
    <dgm:cxn modelId="{937EBC39-01F1-4346-8E90-7E3258C42DC7}" type="presParOf" srcId="{4ECAE854-A7A8-5449-979B-F22E2B20CDFF}" destId="{AFE986CC-EC60-C141-8B00-B493CB378DDA}" srcOrd="1" destOrd="0" presId="urn:microsoft.com/office/officeart/2008/layout/LinedList"/>
    <dgm:cxn modelId="{41BAD372-EB00-514C-BF72-DE503BB3BCC2}" type="presParOf" srcId="{AFE986CC-EC60-C141-8B00-B493CB378DDA}" destId="{595946BE-0D4A-7D49-8C44-C13D44D382C0}" srcOrd="0" destOrd="0" presId="urn:microsoft.com/office/officeart/2008/layout/LinedList"/>
    <dgm:cxn modelId="{F6DCB391-D2A8-D040-8F1E-D58F611E6521}" type="presParOf" srcId="{AFE986CC-EC60-C141-8B00-B493CB378DDA}" destId="{07069470-8C0A-5744-AC59-8046A255B57D}" srcOrd="1" destOrd="0" presId="urn:microsoft.com/office/officeart/2008/layout/LinedList"/>
    <dgm:cxn modelId="{B47209A0-6D7E-1D4B-8131-95F92DD7B1D9}" type="presParOf" srcId="{AFE986CC-EC60-C141-8B00-B493CB378DDA}" destId="{15513D18-EF6F-AD43-AB20-610AC6BC9907}" srcOrd="2" destOrd="0" presId="urn:microsoft.com/office/officeart/2008/layout/LinedList"/>
    <dgm:cxn modelId="{F1C0D55A-B7C7-6343-A627-64F459667B94}" type="presParOf" srcId="{4ECAE854-A7A8-5449-979B-F22E2B20CDFF}" destId="{5DC4DD76-E80E-5B48-AAFE-191929068F12}" srcOrd="2" destOrd="0" presId="urn:microsoft.com/office/officeart/2008/layout/LinedList"/>
    <dgm:cxn modelId="{6B6C981D-4843-E945-88C1-88C4A81410CD}" type="presParOf" srcId="{4ECAE854-A7A8-5449-979B-F22E2B20CDFF}" destId="{8F7B50C8-E2C4-7045-8D4F-FF49B31F5B0E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0A0964B-1262-41C6-BE9D-92FE6DEF277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BD94B52-F9E2-4B00-BD76-071C62A814A8}">
      <dgm:prSet/>
      <dgm:spPr/>
      <dgm:t>
        <a:bodyPr/>
        <a:lstStyle/>
        <a:p>
          <a:r>
            <a:rPr lang="en-US"/>
            <a:t>Summary:</a:t>
          </a:r>
        </a:p>
      </dgm:t>
    </dgm:pt>
    <dgm:pt modelId="{2B32126D-5251-4BE5-8309-C7656F831912}" type="parTrans" cxnId="{9E8081D2-DFEA-46B8-BF3F-CB1D8CDD64B5}">
      <dgm:prSet/>
      <dgm:spPr/>
      <dgm:t>
        <a:bodyPr/>
        <a:lstStyle/>
        <a:p>
          <a:endParaRPr lang="en-US"/>
        </a:p>
      </dgm:t>
    </dgm:pt>
    <dgm:pt modelId="{804A64AF-DB62-40D4-B8AD-233420F2DF2B}" type="sibTrans" cxnId="{9E8081D2-DFEA-46B8-BF3F-CB1D8CDD64B5}">
      <dgm:prSet/>
      <dgm:spPr/>
      <dgm:t>
        <a:bodyPr/>
        <a:lstStyle/>
        <a:p>
          <a:endParaRPr lang="en-US"/>
        </a:p>
      </dgm:t>
    </dgm:pt>
    <dgm:pt modelId="{048B6CDB-B50B-450A-8545-34FBA6E5C697}">
      <dgm:prSet/>
      <dgm:spPr/>
      <dgm:t>
        <a:bodyPr/>
        <a:lstStyle/>
        <a:p>
          <a:r>
            <a:rPr lang="en-US"/>
            <a:t>﻿﻿Size and quality are the strongest overall drivers of home value.</a:t>
          </a:r>
        </a:p>
      </dgm:t>
    </dgm:pt>
    <dgm:pt modelId="{74448FF1-121F-4124-89FC-4FFB0DA60C49}" type="parTrans" cxnId="{FA6EAA27-40B7-4165-A385-ACBC8F3E261C}">
      <dgm:prSet/>
      <dgm:spPr/>
      <dgm:t>
        <a:bodyPr/>
        <a:lstStyle/>
        <a:p>
          <a:endParaRPr lang="en-US"/>
        </a:p>
      </dgm:t>
    </dgm:pt>
    <dgm:pt modelId="{D8148BDA-3C2B-4827-8696-957BAACCB80F}" type="sibTrans" cxnId="{FA6EAA27-40B7-4165-A385-ACBC8F3E261C}">
      <dgm:prSet/>
      <dgm:spPr/>
      <dgm:t>
        <a:bodyPr/>
        <a:lstStyle/>
        <a:p>
          <a:endParaRPr lang="en-US"/>
        </a:p>
      </dgm:t>
    </dgm:pt>
    <dgm:pt modelId="{B8B375C8-AE0F-403E-BFB4-AADBAF8C919D}">
      <dgm:prSet/>
      <dgm:spPr/>
      <dgm:t>
        <a:bodyPr/>
        <a:lstStyle/>
        <a:p>
          <a:r>
            <a:rPr lang="en-US"/>
            <a:t>﻿﻿PCA reveals two dominant dimensions: size/capacity and layout/configuration.</a:t>
          </a:r>
        </a:p>
      </dgm:t>
    </dgm:pt>
    <dgm:pt modelId="{BED2F7E4-482D-438D-9091-01B13D6F28E0}" type="parTrans" cxnId="{9B26EEDC-3D6F-4095-B2B2-DA9409544F97}">
      <dgm:prSet/>
      <dgm:spPr/>
      <dgm:t>
        <a:bodyPr/>
        <a:lstStyle/>
        <a:p>
          <a:endParaRPr lang="en-US"/>
        </a:p>
      </dgm:t>
    </dgm:pt>
    <dgm:pt modelId="{D737F804-BF7D-410E-849B-1687417444B6}" type="sibTrans" cxnId="{9B26EEDC-3D6F-4095-B2B2-DA9409544F97}">
      <dgm:prSet/>
      <dgm:spPr/>
      <dgm:t>
        <a:bodyPr/>
        <a:lstStyle/>
        <a:p>
          <a:endParaRPr lang="en-US"/>
        </a:p>
      </dgm:t>
    </dgm:pt>
    <dgm:pt modelId="{016167C7-E5C9-4A69-B21C-182D8DAA0336}">
      <dgm:prSet/>
      <dgm:spPr/>
      <dgm:t>
        <a:bodyPr/>
        <a:lstStyle/>
        <a:p>
          <a:r>
            <a:rPr lang="en-US" dirty="0"/>
            <a:t>﻿﻿K-Means identifies three meaningful market segments in the Ames dataset.</a:t>
          </a:r>
        </a:p>
      </dgm:t>
    </dgm:pt>
    <dgm:pt modelId="{BA536D81-1EC3-40E6-BB02-62A6F23DA8C2}" type="parTrans" cxnId="{1829E143-DC99-4D21-A2AC-FE9E0E944A77}">
      <dgm:prSet/>
      <dgm:spPr/>
      <dgm:t>
        <a:bodyPr/>
        <a:lstStyle/>
        <a:p>
          <a:endParaRPr lang="en-US"/>
        </a:p>
      </dgm:t>
    </dgm:pt>
    <dgm:pt modelId="{E6C504F1-D51C-4493-A267-276D07D3E5A6}" type="sibTrans" cxnId="{1829E143-DC99-4D21-A2AC-FE9E0E944A77}">
      <dgm:prSet/>
      <dgm:spPr/>
      <dgm:t>
        <a:bodyPr/>
        <a:lstStyle/>
        <a:p>
          <a:endParaRPr lang="en-US"/>
        </a:p>
      </dgm:t>
    </dgm:pt>
    <dgm:pt modelId="{F2DF7FA9-5EFC-43C5-A1FD-A3B72589525B}">
      <dgm:prSet/>
      <dgm:spPr/>
      <dgm:t>
        <a:bodyPr/>
        <a:lstStyle/>
        <a:p>
          <a:r>
            <a:rPr lang="en-US"/>
            <a:t>Future Extensions:</a:t>
          </a:r>
        </a:p>
      </dgm:t>
    </dgm:pt>
    <dgm:pt modelId="{4CD0E6B4-92C9-48D0-A323-E0BF584C05DA}" type="parTrans" cxnId="{5B41416F-C376-4CF3-AC17-8219A9167F50}">
      <dgm:prSet/>
      <dgm:spPr/>
      <dgm:t>
        <a:bodyPr/>
        <a:lstStyle/>
        <a:p>
          <a:endParaRPr lang="en-US"/>
        </a:p>
      </dgm:t>
    </dgm:pt>
    <dgm:pt modelId="{D8F020E5-28B5-44F3-BEA4-64F735E98D47}" type="sibTrans" cxnId="{5B41416F-C376-4CF3-AC17-8219A9167F50}">
      <dgm:prSet/>
      <dgm:spPr/>
      <dgm:t>
        <a:bodyPr/>
        <a:lstStyle/>
        <a:p>
          <a:endParaRPr lang="en-US"/>
        </a:p>
      </dgm:t>
    </dgm:pt>
    <dgm:pt modelId="{65E30C89-FA1A-4765-ABC4-8AD127BB96C7}">
      <dgm:prSet/>
      <dgm:spPr/>
      <dgm:t>
        <a:bodyPr/>
        <a:lstStyle/>
        <a:p>
          <a:r>
            <a:rPr lang="en-US"/>
            <a:t>﻿﻿Add predictive models (Lasso, RF)</a:t>
          </a:r>
        </a:p>
      </dgm:t>
    </dgm:pt>
    <dgm:pt modelId="{D1DEADCB-589D-4AA7-9969-06C4FEA9D095}" type="parTrans" cxnId="{682BC852-588A-4BC4-9944-81ED71C776EC}">
      <dgm:prSet/>
      <dgm:spPr/>
      <dgm:t>
        <a:bodyPr/>
        <a:lstStyle/>
        <a:p>
          <a:endParaRPr lang="en-US"/>
        </a:p>
      </dgm:t>
    </dgm:pt>
    <dgm:pt modelId="{E1AB3596-B67C-43B6-82D1-25B25FC9E912}" type="sibTrans" cxnId="{682BC852-588A-4BC4-9944-81ED71C776EC}">
      <dgm:prSet/>
      <dgm:spPr/>
      <dgm:t>
        <a:bodyPr/>
        <a:lstStyle/>
        <a:p>
          <a:endParaRPr lang="en-US"/>
        </a:p>
      </dgm:t>
    </dgm:pt>
    <dgm:pt modelId="{4BFC1DE1-9EDB-4A47-8844-E2DBE5629CEF}">
      <dgm:prSet/>
      <dgm:spPr/>
      <dgm:t>
        <a:bodyPr/>
        <a:lstStyle/>
        <a:p>
          <a:r>
            <a:rPr lang="en-US" dirty="0"/>
            <a:t>﻿﻿Include categorical encodings for better clusters</a:t>
          </a:r>
        </a:p>
      </dgm:t>
    </dgm:pt>
    <dgm:pt modelId="{F408CD45-BD38-4A0B-B324-99D40C2AD845}" type="parTrans" cxnId="{33D64C80-E80B-456B-8065-40E9C352AA35}">
      <dgm:prSet/>
      <dgm:spPr/>
      <dgm:t>
        <a:bodyPr/>
        <a:lstStyle/>
        <a:p>
          <a:endParaRPr lang="en-US"/>
        </a:p>
      </dgm:t>
    </dgm:pt>
    <dgm:pt modelId="{EBDD2BB0-04FE-4CBF-A943-B1DEA529CE98}" type="sibTrans" cxnId="{33D64C80-E80B-456B-8065-40E9C352AA35}">
      <dgm:prSet/>
      <dgm:spPr/>
      <dgm:t>
        <a:bodyPr/>
        <a:lstStyle/>
        <a:p>
          <a:endParaRPr lang="en-US"/>
        </a:p>
      </dgm:t>
    </dgm:pt>
    <dgm:pt modelId="{340601A9-3C10-4114-80CD-ECB59651B5EA}">
      <dgm:prSet/>
      <dgm:spPr/>
      <dgm:t>
        <a:bodyPr/>
        <a:lstStyle/>
        <a:p>
          <a:r>
            <a:rPr lang="en-US" dirty="0"/>
            <a:t>﻿﻿Explore spatial modeling and time-based pricing</a:t>
          </a:r>
        </a:p>
      </dgm:t>
    </dgm:pt>
    <dgm:pt modelId="{6F41B5F2-B305-415A-B8CA-1E4F74EDBB3E}" type="parTrans" cxnId="{800E969C-2159-42A9-A123-7398277EFB71}">
      <dgm:prSet/>
      <dgm:spPr/>
      <dgm:t>
        <a:bodyPr/>
        <a:lstStyle/>
        <a:p>
          <a:endParaRPr lang="en-US"/>
        </a:p>
      </dgm:t>
    </dgm:pt>
    <dgm:pt modelId="{B182E001-FAEE-4ABE-B222-433F5841B921}" type="sibTrans" cxnId="{800E969C-2159-42A9-A123-7398277EFB71}">
      <dgm:prSet/>
      <dgm:spPr/>
      <dgm:t>
        <a:bodyPr/>
        <a:lstStyle/>
        <a:p>
          <a:endParaRPr lang="en-US"/>
        </a:p>
      </dgm:t>
    </dgm:pt>
    <dgm:pt modelId="{C39F380F-30D3-8A43-A962-49E692748564}" type="pres">
      <dgm:prSet presAssocID="{D0A0964B-1262-41C6-BE9D-92FE6DEF2771}" presName="diagram" presStyleCnt="0">
        <dgm:presLayoutVars>
          <dgm:dir/>
          <dgm:resizeHandles val="exact"/>
        </dgm:presLayoutVars>
      </dgm:prSet>
      <dgm:spPr/>
    </dgm:pt>
    <dgm:pt modelId="{5B9C67E1-9922-914D-A0B9-483934E6D36C}" type="pres">
      <dgm:prSet presAssocID="{6BD94B52-F9E2-4B00-BD76-071C62A814A8}" presName="node" presStyleLbl="node1" presStyleIdx="0" presStyleCnt="8">
        <dgm:presLayoutVars>
          <dgm:bulletEnabled val="1"/>
        </dgm:presLayoutVars>
      </dgm:prSet>
      <dgm:spPr/>
    </dgm:pt>
    <dgm:pt modelId="{AF2F8561-0D12-D34E-864D-AD98F17F3911}" type="pres">
      <dgm:prSet presAssocID="{804A64AF-DB62-40D4-B8AD-233420F2DF2B}" presName="sibTrans" presStyleCnt="0"/>
      <dgm:spPr/>
    </dgm:pt>
    <dgm:pt modelId="{25962F97-48F7-D349-A792-5E43A4787C41}" type="pres">
      <dgm:prSet presAssocID="{048B6CDB-B50B-450A-8545-34FBA6E5C697}" presName="node" presStyleLbl="node1" presStyleIdx="1" presStyleCnt="8">
        <dgm:presLayoutVars>
          <dgm:bulletEnabled val="1"/>
        </dgm:presLayoutVars>
      </dgm:prSet>
      <dgm:spPr/>
    </dgm:pt>
    <dgm:pt modelId="{F4C32754-11AA-AA4F-9D90-8F053A31F9B3}" type="pres">
      <dgm:prSet presAssocID="{D8148BDA-3C2B-4827-8696-957BAACCB80F}" presName="sibTrans" presStyleCnt="0"/>
      <dgm:spPr/>
    </dgm:pt>
    <dgm:pt modelId="{7CCAF54E-E75D-E84C-930A-90B01D3E6FA3}" type="pres">
      <dgm:prSet presAssocID="{B8B375C8-AE0F-403E-BFB4-AADBAF8C919D}" presName="node" presStyleLbl="node1" presStyleIdx="2" presStyleCnt="8">
        <dgm:presLayoutVars>
          <dgm:bulletEnabled val="1"/>
        </dgm:presLayoutVars>
      </dgm:prSet>
      <dgm:spPr/>
    </dgm:pt>
    <dgm:pt modelId="{A6EF8382-D87D-2341-8ABD-BA22DD16D366}" type="pres">
      <dgm:prSet presAssocID="{D737F804-BF7D-410E-849B-1687417444B6}" presName="sibTrans" presStyleCnt="0"/>
      <dgm:spPr/>
    </dgm:pt>
    <dgm:pt modelId="{3B25890A-4242-074F-8FA6-73E87CB18547}" type="pres">
      <dgm:prSet presAssocID="{016167C7-E5C9-4A69-B21C-182D8DAA0336}" presName="node" presStyleLbl="node1" presStyleIdx="3" presStyleCnt="8">
        <dgm:presLayoutVars>
          <dgm:bulletEnabled val="1"/>
        </dgm:presLayoutVars>
      </dgm:prSet>
      <dgm:spPr/>
    </dgm:pt>
    <dgm:pt modelId="{3CC1376D-D7E5-C140-9E9A-DDF43B9E9172}" type="pres">
      <dgm:prSet presAssocID="{E6C504F1-D51C-4493-A267-276D07D3E5A6}" presName="sibTrans" presStyleCnt="0"/>
      <dgm:spPr/>
    </dgm:pt>
    <dgm:pt modelId="{5313F3C1-98DC-0242-A777-142E9A9F014F}" type="pres">
      <dgm:prSet presAssocID="{F2DF7FA9-5EFC-43C5-A1FD-A3B72589525B}" presName="node" presStyleLbl="node1" presStyleIdx="4" presStyleCnt="8">
        <dgm:presLayoutVars>
          <dgm:bulletEnabled val="1"/>
        </dgm:presLayoutVars>
      </dgm:prSet>
      <dgm:spPr/>
    </dgm:pt>
    <dgm:pt modelId="{760CC06B-6AF4-5444-8E0B-9743BF9D5513}" type="pres">
      <dgm:prSet presAssocID="{D8F020E5-28B5-44F3-BEA4-64F735E98D47}" presName="sibTrans" presStyleCnt="0"/>
      <dgm:spPr/>
    </dgm:pt>
    <dgm:pt modelId="{EC0A4265-E882-0941-8F60-B17209C6471F}" type="pres">
      <dgm:prSet presAssocID="{65E30C89-FA1A-4765-ABC4-8AD127BB96C7}" presName="node" presStyleLbl="node1" presStyleIdx="5" presStyleCnt="8">
        <dgm:presLayoutVars>
          <dgm:bulletEnabled val="1"/>
        </dgm:presLayoutVars>
      </dgm:prSet>
      <dgm:spPr/>
    </dgm:pt>
    <dgm:pt modelId="{D515C24B-0AE8-FD41-AAF4-734890197323}" type="pres">
      <dgm:prSet presAssocID="{E1AB3596-B67C-43B6-82D1-25B25FC9E912}" presName="sibTrans" presStyleCnt="0"/>
      <dgm:spPr/>
    </dgm:pt>
    <dgm:pt modelId="{F7F714FE-B96F-FF40-A0C7-D65373ADE05B}" type="pres">
      <dgm:prSet presAssocID="{4BFC1DE1-9EDB-4A47-8844-E2DBE5629CEF}" presName="node" presStyleLbl="node1" presStyleIdx="6" presStyleCnt="8">
        <dgm:presLayoutVars>
          <dgm:bulletEnabled val="1"/>
        </dgm:presLayoutVars>
      </dgm:prSet>
      <dgm:spPr/>
    </dgm:pt>
    <dgm:pt modelId="{B99CC554-BB27-C845-8765-8F7480FB0FDB}" type="pres">
      <dgm:prSet presAssocID="{EBDD2BB0-04FE-4CBF-A943-B1DEA529CE98}" presName="sibTrans" presStyleCnt="0"/>
      <dgm:spPr/>
    </dgm:pt>
    <dgm:pt modelId="{AF788599-0D98-DB4E-89CE-7243BD720C9B}" type="pres">
      <dgm:prSet presAssocID="{340601A9-3C10-4114-80CD-ECB59651B5EA}" presName="node" presStyleLbl="node1" presStyleIdx="7" presStyleCnt="8">
        <dgm:presLayoutVars>
          <dgm:bulletEnabled val="1"/>
        </dgm:presLayoutVars>
      </dgm:prSet>
      <dgm:spPr/>
    </dgm:pt>
  </dgm:ptLst>
  <dgm:cxnLst>
    <dgm:cxn modelId="{FA6EAA27-40B7-4165-A385-ACBC8F3E261C}" srcId="{D0A0964B-1262-41C6-BE9D-92FE6DEF2771}" destId="{048B6CDB-B50B-450A-8545-34FBA6E5C697}" srcOrd="1" destOrd="0" parTransId="{74448FF1-121F-4124-89FC-4FFB0DA60C49}" sibTransId="{D8148BDA-3C2B-4827-8696-957BAACCB80F}"/>
    <dgm:cxn modelId="{117D6640-C6D8-8446-8DDE-E5BC9FC2351F}" type="presOf" srcId="{F2DF7FA9-5EFC-43C5-A1FD-A3B72589525B}" destId="{5313F3C1-98DC-0242-A777-142E9A9F014F}" srcOrd="0" destOrd="0" presId="urn:microsoft.com/office/officeart/2005/8/layout/default"/>
    <dgm:cxn modelId="{1829E143-DC99-4D21-A2AC-FE9E0E944A77}" srcId="{D0A0964B-1262-41C6-BE9D-92FE6DEF2771}" destId="{016167C7-E5C9-4A69-B21C-182D8DAA0336}" srcOrd="3" destOrd="0" parTransId="{BA536D81-1EC3-40E6-BB02-62A6F23DA8C2}" sibTransId="{E6C504F1-D51C-4493-A267-276D07D3E5A6}"/>
    <dgm:cxn modelId="{9492A147-6A14-704C-A085-3EB73602999E}" type="presOf" srcId="{340601A9-3C10-4114-80CD-ECB59651B5EA}" destId="{AF788599-0D98-DB4E-89CE-7243BD720C9B}" srcOrd="0" destOrd="0" presId="urn:microsoft.com/office/officeart/2005/8/layout/default"/>
    <dgm:cxn modelId="{682BC852-588A-4BC4-9944-81ED71C776EC}" srcId="{D0A0964B-1262-41C6-BE9D-92FE6DEF2771}" destId="{65E30C89-FA1A-4765-ABC4-8AD127BB96C7}" srcOrd="5" destOrd="0" parTransId="{D1DEADCB-589D-4AA7-9969-06C4FEA9D095}" sibTransId="{E1AB3596-B67C-43B6-82D1-25B25FC9E912}"/>
    <dgm:cxn modelId="{5B41416F-C376-4CF3-AC17-8219A9167F50}" srcId="{D0A0964B-1262-41C6-BE9D-92FE6DEF2771}" destId="{F2DF7FA9-5EFC-43C5-A1FD-A3B72589525B}" srcOrd="4" destOrd="0" parTransId="{4CD0E6B4-92C9-48D0-A323-E0BF584C05DA}" sibTransId="{D8F020E5-28B5-44F3-BEA4-64F735E98D47}"/>
    <dgm:cxn modelId="{33D64C80-E80B-456B-8065-40E9C352AA35}" srcId="{D0A0964B-1262-41C6-BE9D-92FE6DEF2771}" destId="{4BFC1DE1-9EDB-4A47-8844-E2DBE5629CEF}" srcOrd="6" destOrd="0" parTransId="{F408CD45-BD38-4A0B-B324-99D40C2AD845}" sibTransId="{EBDD2BB0-04FE-4CBF-A943-B1DEA529CE98}"/>
    <dgm:cxn modelId="{800E969C-2159-42A9-A123-7398277EFB71}" srcId="{D0A0964B-1262-41C6-BE9D-92FE6DEF2771}" destId="{340601A9-3C10-4114-80CD-ECB59651B5EA}" srcOrd="7" destOrd="0" parTransId="{6F41B5F2-B305-415A-B8CA-1E4F74EDBB3E}" sibTransId="{B182E001-FAEE-4ABE-B222-433F5841B921}"/>
    <dgm:cxn modelId="{4639E7B3-282C-A445-8FF7-E00B2DD0E166}" type="presOf" srcId="{B8B375C8-AE0F-403E-BFB4-AADBAF8C919D}" destId="{7CCAF54E-E75D-E84C-930A-90B01D3E6FA3}" srcOrd="0" destOrd="0" presId="urn:microsoft.com/office/officeart/2005/8/layout/default"/>
    <dgm:cxn modelId="{7E025AB4-8B91-434D-85BD-B0929B536CAF}" type="presOf" srcId="{65E30C89-FA1A-4765-ABC4-8AD127BB96C7}" destId="{EC0A4265-E882-0941-8F60-B17209C6471F}" srcOrd="0" destOrd="0" presId="urn:microsoft.com/office/officeart/2005/8/layout/default"/>
    <dgm:cxn modelId="{014502C3-A737-CF4E-9404-43D841B95E38}" type="presOf" srcId="{6BD94B52-F9E2-4B00-BD76-071C62A814A8}" destId="{5B9C67E1-9922-914D-A0B9-483934E6D36C}" srcOrd="0" destOrd="0" presId="urn:microsoft.com/office/officeart/2005/8/layout/default"/>
    <dgm:cxn modelId="{D2CB12D1-2759-C243-9A6E-1B5BB152FFAB}" type="presOf" srcId="{D0A0964B-1262-41C6-BE9D-92FE6DEF2771}" destId="{C39F380F-30D3-8A43-A962-49E692748564}" srcOrd="0" destOrd="0" presId="urn:microsoft.com/office/officeart/2005/8/layout/default"/>
    <dgm:cxn modelId="{9E8081D2-DFEA-46B8-BF3F-CB1D8CDD64B5}" srcId="{D0A0964B-1262-41C6-BE9D-92FE6DEF2771}" destId="{6BD94B52-F9E2-4B00-BD76-071C62A814A8}" srcOrd="0" destOrd="0" parTransId="{2B32126D-5251-4BE5-8309-C7656F831912}" sibTransId="{804A64AF-DB62-40D4-B8AD-233420F2DF2B}"/>
    <dgm:cxn modelId="{9B26EEDC-3D6F-4095-B2B2-DA9409544F97}" srcId="{D0A0964B-1262-41C6-BE9D-92FE6DEF2771}" destId="{B8B375C8-AE0F-403E-BFB4-AADBAF8C919D}" srcOrd="2" destOrd="0" parTransId="{BED2F7E4-482D-438D-9091-01B13D6F28E0}" sibTransId="{D737F804-BF7D-410E-849B-1687417444B6}"/>
    <dgm:cxn modelId="{92160FE0-C818-1F41-BB67-B12F6ADD51FB}" type="presOf" srcId="{048B6CDB-B50B-450A-8545-34FBA6E5C697}" destId="{25962F97-48F7-D349-A792-5E43A4787C41}" srcOrd="0" destOrd="0" presId="urn:microsoft.com/office/officeart/2005/8/layout/default"/>
    <dgm:cxn modelId="{B6F385EA-6B23-9A4B-A924-988CA4B97ECF}" type="presOf" srcId="{4BFC1DE1-9EDB-4A47-8844-E2DBE5629CEF}" destId="{F7F714FE-B96F-FF40-A0C7-D65373ADE05B}" srcOrd="0" destOrd="0" presId="urn:microsoft.com/office/officeart/2005/8/layout/default"/>
    <dgm:cxn modelId="{8DE37EF4-B055-7646-BF87-5B78B40ED767}" type="presOf" srcId="{016167C7-E5C9-4A69-B21C-182D8DAA0336}" destId="{3B25890A-4242-074F-8FA6-73E87CB18547}" srcOrd="0" destOrd="0" presId="urn:microsoft.com/office/officeart/2005/8/layout/default"/>
    <dgm:cxn modelId="{EC668566-DA60-524A-B83D-96B37DD8EA5C}" type="presParOf" srcId="{C39F380F-30D3-8A43-A962-49E692748564}" destId="{5B9C67E1-9922-914D-A0B9-483934E6D36C}" srcOrd="0" destOrd="0" presId="urn:microsoft.com/office/officeart/2005/8/layout/default"/>
    <dgm:cxn modelId="{B1D6AB2B-9626-D54D-A6CA-E2D5718A5497}" type="presParOf" srcId="{C39F380F-30D3-8A43-A962-49E692748564}" destId="{AF2F8561-0D12-D34E-864D-AD98F17F3911}" srcOrd="1" destOrd="0" presId="urn:microsoft.com/office/officeart/2005/8/layout/default"/>
    <dgm:cxn modelId="{66CE57DE-0086-2243-AF49-FFC6C77F1331}" type="presParOf" srcId="{C39F380F-30D3-8A43-A962-49E692748564}" destId="{25962F97-48F7-D349-A792-5E43A4787C41}" srcOrd="2" destOrd="0" presId="urn:microsoft.com/office/officeart/2005/8/layout/default"/>
    <dgm:cxn modelId="{A39FF494-5B8D-8649-8C42-83CB1245FE62}" type="presParOf" srcId="{C39F380F-30D3-8A43-A962-49E692748564}" destId="{F4C32754-11AA-AA4F-9D90-8F053A31F9B3}" srcOrd="3" destOrd="0" presId="urn:microsoft.com/office/officeart/2005/8/layout/default"/>
    <dgm:cxn modelId="{D379CC53-5664-D947-ABBB-CD9A26F1E394}" type="presParOf" srcId="{C39F380F-30D3-8A43-A962-49E692748564}" destId="{7CCAF54E-E75D-E84C-930A-90B01D3E6FA3}" srcOrd="4" destOrd="0" presId="urn:microsoft.com/office/officeart/2005/8/layout/default"/>
    <dgm:cxn modelId="{95EC576F-12C4-7C4B-844A-FF88D952941B}" type="presParOf" srcId="{C39F380F-30D3-8A43-A962-49E692748564}" destId="{A6EF8382-D87D-2341-8ABD-BA22DD16D366}" srcOrd="5" destOrd="0" presId="urn:microsoft.com/office/officeart/2005/8/layout/default"/>
    <dgm:cxn modelId="{DA78564D-010E-7842-A0CE-27960967702A}" type="presParOf" srcId="{C39F380F-30D3-8A43-A962-49E692748564}" destId="{3B25890A-4242-074F-8FA6-73E87CB18547}" srcOrd="6" destOrd="0" presId="urn:microsoft.com/office/officeart/2005/8/layout/default"/>
    <dgm:cxn modelId="{9BCBFC4D-6A5F-CC48-98C5-26B9320FE2BD}" type="presParOf" srcId="{C39F380F-30D3-8A43-A962-49E692748564}" destId="{3CC1376D-D7E5-C140-9E9A-DDF43B9E9172}" srcOrd="7" destOrd="0" presId="urn:microsoft.com/office/officeart/2005/8/layout/default"/>
    <dgm:cxn modelId="{DEC3EC96-D1FB-FA4C-B884-A445B94E3476}" type="presParOf" srcId="{C39F380F-30D3-8A43-A962-49E692748564}" destId="{5313F3C1-98DC-0242-A777-142E9A9F014F}" srcOrd="8" destOrd="0" presId="urn:microsoft.com/office/officeart/2005/8/layout/default"/>
    <dgm:cxn modelId="{7BFFBE39-F580-014C-AC2A-8A47FEC3171E}" type="presParOf" srcId="{C39F380F-30D3-8A43-A962-49E692748564}" destId="{760CC06B-6AF4-5444-8E0B-9743BF9D5513}" srcOrd="9" destOrd="0" presId="urn:microsoft.com/office/officeart/2005/8/layout/default"/>
    <dgm:cxn modelId="{2ABC6918-9E0A-7E45-BFE7-3A932BA0097B}" type="presParOf" srcId="{C39F380F-30D3-8A43-A962-49E692748564}" destId="{EC0A4265-E882-0941-8F60-B17209C6471F}" srcOrd="10" destOrd="0" presId="urn:microsoft.com/office/officeart/2005/8/layout/default"/>
    <dgm:cxn modelId="{194C2F8E-3BCB-724D-B049-ED29C488B89E}" type="presParOf" srcId="{C39F380F-30D3-8A43-A962-49E692748564}" destId="{D515C24B-0AE8-FD41-AAF4-734890197323}" srcOrd="11" destOrd="0" presId="urn:microsoft.com/office/officeart/2005/8/layout/default"/>
    <dgm:cxn modelId="{5C6FD22D-1402-5B4C-A3A5-38DF45C68E13}" type="presParOf" srcId="{C39F380F-30D3-8A43-A962-49E692748564}" destId="{F7F714FE-B96F-FF40-A0C7-D65373ADE05B}" srcOrd="12" destOrd="0" presId="urn:microsoft.com/office/officeart/2005/8/layout/default"/>
    <dgm:cxn modelId="{17EEECEC-CE2A-9441-A4B2-6AA4F4D523A8}" type="presParOf" srcId="{C39F380F-30D3-8A43-A962-49E692748564}" destId="{B99CC554-BB27-C845-8765-8F7480FB0FDB}" srcOrd="13" destOrd="0" presId="urn:microsoft.com/office/officeart/2005/8/layout/default"/>
    <dgm:cxn modelId="{1FEEEF78-6F44-F948-BB3F-E7EF4ABA1D60}" type="presParOf" srcId="{C39F380F-30D3-8A43-A962-49E692748564}" destId="{AF788599-0D98-DB4E-89CE-7243BD720C9B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E7B158-8630-E640-B43E-6C43793C6D4E}">
      <dsp:nvSpPr>
        <dsp:cNvPr id="0" name=""/>
        <dsp:cNvSpPr/>
      </dsp:nvSpPr>
      <dsp:spPr>
        <a:xfrm>
          <a:off x="0" y="43181"/>
          <a:ext cx="6545199" cy="6715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Techniques Used:</a:t>
          </a:r>
        </a:p>
      </dsp:txBody>
      <dsp:txXfrm>
        <a:off x="32784" y="75965"/>
        <a:ext cx="6479631" cy="606012"/>
      </dsp:txXfrm>
    </dsp:sp>
    <dsp:sp modelId="{80EAAC20-3010-3445-AE6F-45E72DCF757A}">
      <dsp:nvSpPr>
        <dsp:cNvPr id="0" name=""/>
        <dsp:cNvSpPr/>
      </dsp:nvSpPr>
      <dsp:spPr>
        <a:xfrm>
          <a:off x="0" y="714761"/>
          <a:ext cx="6545199" cy="2086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781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﻿﻿EDA &amp; Visualization: Histograms, scatterplots, boxplots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﻿﻿PCA: Reduced 35 correlated numeric features into important components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﻿﻿K-Means Clustering: Used PCA space to identify natural home segments</a:t>
          </a:r>
        </a:p>
      </dsp:txBody>
      <dsp:txXfrm>
        <a:off x="0" y="714761"/>
        <a:ext cx="6545199" cy="2086560"/>
      </dsp:txXfrm>
    </dsp:sp>
    <dsp:sp modelId="{2B411AE5-83B7-F240-A42F-C7F15B772C1D}">
      <dsp:nvSpPr>
        <dsp:cNvPr id="0" name=""/>
        <dsp:cNvSpPr/>
      </dsp:nvSpPr>
      <dsp:spPr>
        <a:xfrm>
          <a:off x="0" y="2801321"/>
          <a:ext cx="6545199" cy="671580"/>
        </a:xfrm>
        <a:prstGeom prst="roundRect">
          <a:avLst/>
        </a:prstGeom>
        <a:gradFill rotWithShape="0">
          <a:gsLst>
            <a:gs pos="0">
              <a:schemeClr val="accent2">
                <a:hueOff val="-3110147"/>
                <a:satOff val="-16453"/>
                <a:lumOff val="-6274"/>
                <a:alphaOff val="0"/>
                <a:tint val="98000"/>
                <a:lumMod val="100000"/>
              </a:schemeClr>
            </a:gs>
            <a:gs pos="100000">
              <a:schemeClr val="accent2">
                <a:hueOff val="-3110147"/>
                <a:satOff val="-16453"/>
                <a:lumOff val="-627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Why PCA:</a:t>
          </a:r>
        </a:p>
      </dsp:txBody>
      <dsp:txXfrm>
        <a:off x="32784" y="2834105"/>
        <a:ext cx="6479631" cy="606012"/>
      </dsp:txXfrm>
    </dsp:sp>
    <dsp:sp modelId="{04E7104C-650F-C34A-A075-3B8BC1088F40}">
      <dsp:nvSpPr>
        <dsp:cNvPr id="0" name=""/>
        <dsp:cNvSpPr/>
      </dsp:nvSpPr>
      <dsp:spPr>
        <a:xfrm>
          <a:off x="0" y="3472901"/>
          <a:ext cx="6545199" cy="130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781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Housing features (</a:t>
          </a:r>
          <a:r>
            <a:rPr lang="en-US" sz="2200" kern="1200" dirty="0" err="1"/>
            <a:t>sqft</a:t>
          </a:r>
          <a:r>
            <a:rPr lang="en-US" sz="2200" kern="1200" dirty="0"/>
            <a:t>, rooms, baths, basement, garage) are highly correlated. PCA reduces redundancy and uncovers main dimensions of variation.</a:t>
          </a:r>
        </a:p>
      </dsp:txBody>
      <dsp:txXfrm>
        <a:off x="0" y="3472901"/>
        <a:ext cx="6545199" cy="13041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EB0F3-EBE0-5F4B-8673-CBEBF08CF972}">
      <dsp:nvSpPr>
        <dsp:cNvPr id="0" name=""/>
        <dsp:cNvSpPr/>
      </dsp:nvSpPr>
      <dsp:spPr>
        <a:xfrm>
          <a:off x="0" y="352983"/>
          <a:ext cx="51723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939422-4136-C14B-A77E-231C078DB8B2}">
      <dsp:nvSpPr>
        <dsp:cNvPr id="0" name=""/>
        <dsp:cNvSpPr/>
      </dsp:nvSpPr>
      <dsp:spPr>
        <a:xfrm>
          <a:off x="258619" y="161103"/>
          <a:ext cx="3620678" cy="3837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6853" tIns="0" rIns="13685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K-Means selected K = 3</a:t>
          </a:r>
        </a:p>
      </dsp:txBody>
      <dsp:txXfrm>
        <a:off x="277353" y="179837"/>
        <a:ext cx="3583210" cy="346292"/>
      </dsp:txXfrm>
    </dsp:sp>
    <dsp:sp modelId="{296F609E-C974-7545-950D-9D32DC4D4FC4}">
      <dsp:nvSpPr>
        <dsp:cNvPr id="0" name=""/>
        <dsp:cNvSpPr/>
      </dsp:nvSpPr>
      <dsp:spPr>
        <a:xfrm>
          <a:off x="0" y="942663"/>
          <a:ext cx="5172398" cy="98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436" tIns="270764" rIns="40143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﻿﻿High quality (7)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﻿﻿Newer (2003)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﻿﻿﻿﻿Highest prices ($214k)</a:t>
          </a:r>
        </a:p>
      </dsp:txBody>
      <dsp:txXfrm>
        <a:off x="0" y="942663"/>
        <a:ext cx="5172398" cy="982799"/>
      </dsp:txXfrm>
    </dsp:sp>
    <dsp:sp modelId="{CFC6F949-7A99-D146-BDEA-4FD048FF1B25}">
      <dsp:nvSpPr>
        <dsp:cNvPr id="0" name=""/>
        <dsp:cNvSpPr/>
      </dsp:nvSpPr>
      <dsp:spPr>
        <a:xfrm>
          <a:off x="258619" y="750783"/>
          <a:ext cx="3620678" cy="3837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6853" tIns="0" rIns="13685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Cluster 1 - Higher-end homes</a:t>
          </a:r>
        </a:p>
      </dsp:txBody>
      <dsp:txXfrm>
        <a:off x="277353" y="769517"/>
        <a:ext cx="3583210" cy="346292"/>
      </dsp:txXfrm>
    </dsp:sp>
    <dsp:sp modelId="{712FD755-E85B-3C4D-8EC9-98FBBF7ACAB2}">
      <dsp:nvSpPr>
        <dsp:cNvPr id="0" name=""/>
        <dsp:cNvSpPr/>
      </dsp:nvSpPr>
      <dsp:spPr>
        <a:xfrm>
          <a:off x="0" y="2187544"/>
          <a:ext cx="5172398" cy="7575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436" tIns="270764" rIns="40143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﻿﻿Larger Area(1,922 </a:t>
          </a:r>
          <a:r>
            <a:rPr lang="en-US" sz="1300" kern="1200" dirty="0" err="1"/>
            <a:t>sqft</a:t>
          </a:r>
          <a:r>
            <a:rPr lang="en-US" sz="1300" kern="1200" dirty="0"/>
            <a:t>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﻿﻿Mid-price ($200k)</a:t>
          </a:r>
        </a:p>
      </dsp:txBody>
      <dsp:txXfrm>
        <a:off x="0" y="2187544"/>
        <a:ext cx="5172398" cy="757574"/>
      </dsp:txXfrm>
    </dsp:sp>
    <dsp:sp modelId="{9C69352B-E700-FF4A-ACF9-2A2FB2841F25}">
      <dsp:nvSpPr>
        <dsp:cNvPr id="0" name=""/>
        <dsp:cNvSpPr/>
      </dsp:nvSpPr>
      <dsp:spPr>
        <a:xfrm>
          <a:off x="258619" y="1995663"/>
          <a:ext cx="3620678" cy="3837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6853" tIns="0" rIns="13685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Cluster 2 - Large but older homes</a:t>
          </a:r>
        </a:p>
      </dsp:txBody>
      <dsp:txXfrm>
        <a:off x="277353" y="2014397"/>
        <a:ext cx="3583210" cy="346292"/>
      </dsp:txXfrm>
    </dsp:sp>
    <dsp:sp modelId="{0966CF67-5FE3-0645-B888-BE9443F309AD}">
      <dsp:nvSpPr>
        <dsp:cNvPr id="0" name=""/>
        <dsp:cNvSpPr/>
      </dsp:nvSpPr>
      <dsp:spPr>
        <a:xfrm>
          <a:off x="0" y="3207199"/>
          <a:ext cx="5172398" cy="118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436" tIns="270764" rIns="40143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﻿﻿Smaller (1,118 </a:t>
          </a:r>
          <a:r>
            <a:rPr lang="en-US" sz="1300" kern="1200" dirty="0" err="1"/>
            <a:t>sqft</a:t>
          </a:r>
          <a:r>
            <a:rPr lang="en-US" sz="1300" kern="1200" dirty="0"/>
            <a:t>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﻿﻿Older (1957)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﻿﻿Lower quality (5)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﻿﻿Lowest prices ($130k)</a:t>
          </a:r>
        </a:p>
      </dsp:txBody>
      <dsp:txXfrm>
        <a:off x="0" y="3207199"/>
        <a:ext cx="5172398" cy="1187549"/>
      </dsp:txXfrm>
    </dsp:sp>
    <dsp:sp modelId="{B76FA15F-125D-D04F-B582-ED1ED8696107}">
      <dsp:nvSpPr>
        <dsp:cNvPr id="0" name=""/>
        <dsp:cNvSpPr/>
      </dsp:nvSpPr>
      <dsp:spPr>
        <a:xfrm>
          <a:off x="258619" y="3015319"/>
          <a:ext cx="3620678" cy="3837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6853" tIns="0" rIns="13685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Cluster 3 - Starter homes</a:t>
          </a:r>
        </a:p>
      </dsp:txBody>
      <dsp:txXfrm>
        <a:off x="277353" y="3034053"/>
        <a:ext cx="3583210" cy="3462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BB4DFC-AF3C-3844-B8CB-E87A0CC7C529}">
      <dsp:nvSpPr>
        <dsp:cNvPr id="0" name=""/>
        <dsp:cNvSpPr/>
      </dsp:nvSpPr>
      <dsp:spPr>
        <a:xfrm>
          <a:off x="0" y="0"/>
          <a:ext cx="6545199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5FE930-BE85-8B47-8186-B9CEDE089BDF}">
      <dsp:nvSpPr>
        <dsp:cNvPr id="0" name=""/>
        <dsp:cNvSpPr/>
      </dsp:nvSpPr>
      <dsp:spPr>
        <a:xfrm>
          <a:off x="0" y="0"/>
          <a:ext cx="1309039" cy="2410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Main Challenge:</a:t>
          </a:r>
        </a:p>
      </dsp:txBody>
      <dsp:txXfrm>
        <a:off x="0" y="0"/>
        <a:ext cx="1309039" cy="2410091"/>
      </dsp:txXfrm>
    </dsp:sp>
    <dsp:sp modelId="{8343B064-5FA5-3B49-B7CB-73B43C13A68D}">
      <dsp:nvSpPr>
        <dsp:cNvPr id="0" name=""/>
        <dsp:cNvSpPr/>
      </dsp:nvSpPr>
      <dsp:spPr>
        <a:xfrm>
          <a:off x="1407217" y="109442"/>
          <a:ext cx="5137981" cy="2188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The dataset contains many correlated numeric variables that alter clustering and raise dimensionality.</a:t>
          </a:r>
        </a:p>
      </dsp:txBody>
      <dsp:txXfrm>
        <a:off x="1407217" y="109442"/>
        <a:ext cx="5137981" cy="2188852"/>
      </dsp:txXfrm>
    </dsp:sp>
    <dsp:sp modelId="{B92D307B-353E-EE4B-B9E8-691CBE1D65C7}">
      <dsp:nvSpPr>
        <dsp:cNvPr id="0" name=""/>
        <dsp:cNvSpPr/>
      </dsp:nvSpPr>
      <dsp:spPr>
        <a:xfrm>
          <a:off x="1309039" y="2298294"/>
          <a:ext cx="523615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FC0A057-09AE-3248-B63B-8160C126342D}">
      <dsp:nvSpPr>
        <dsp:cNvPr id="0" name=""/>
        <dsp:cNvSpPr/>
      </dsp:nvSpPr>
      <dsp:spPr>
        <a:xfrm>
          <a:off x="0" y="2410091"/>
          <a:ext cx="6545199" cy="0"/>
        </a:xfrm>
        <a:prstGeom prst="line">
          <a:avLst/>
        </a:prstGeom>
        <a:gradFill rotWithShape="0">
          <a:gsLst>
            <a:gs pos="0">
              <a:schemeClr val="accent2">
                <a:hueOff val="-3110147"/>
                <a:satOff val="-16453"/>
                <a:lumOff val="-6274"/>
                <a:alphaOff val="0"/>
                <a:tint val="98000"/>
                <a:lumMod val="100000"/>
              </a:schemeClr>
            </a:gs>
            <a:gs pos="100000">
              <a:schemeClr val="accent2">
                <a:hueOff val="-3110147"/>
                <a:satOff val="-16453"/>
                <a:lumOff val="-6274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3110147"/>
              <a:satOff val="-16453"/>
              <a:lumOff val="-6274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EB4D5C4-8CB6-1049-BC75-50253CDD5883}">
      <dsp:nvSpPr>
        <dsp:cNvPr id="0" name=""/>
        <dsp:cNvSpPr/>
      </dsp:nvSpPr>
      <dsp:spPr>
        <a:xfrm>
          <a:off x="0" y="2410091"/>
          <a:ext cx="1309039" cy="2410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Solution:</a:t>
          </a:r>
        </a:p>
      </dsp:txBody>
      <dsp:txXfrm>
        <a:off x="0" y="2410091"/>
        <a:ext cx="1309039" cy="2410091"/>
      </dsp:txXfrm>
    </dsp:sp>
    <dsp:sp modelId="{07069470-8C0A-5744-AC59-8046A255B57D}">
      <dsp:nvSpPr>
        <dsp:cNvPr id="0" name=""/>
        <dsp:cNvSpPr/>
      </dsp:nvSpPr>
      <dsp:spPr>
        <a:xfrm>
          <a:off x="1407217" y="2519533"/>
          <a:ext cx="5137981" cy="2188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Apply PCA first to compress size-related variables into components, then run K-Means on PC space, which produced much clearer, more interpretable clusters.</a:t>
          </a:r>
        </a:p>
      </dsp:txBody>
      <dsp:txXfrm>
        <a:off x="1407217" y="2519533"/>
        <a:ext cx="5137981" cy="2188852"/>
      </dsp:txXfrm>
    </dsp:sp>
    <dsp:sp modelId="{5DC4DD76-E80E-5B48-AAFE-191929068F12}">
      <dsp:nvSpPr>
        <dsp:cNvPr id="0" name=""/>
        <dsp:cNvSpPr/>
      </dsp:nvSpPr>
      <dsp:spPr>
        <a:xfrm>
          <a:off x="1309039" y="4708385"/>
          <a:ext cx="523615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9C67E1-9922-914D-A0B9-483934E6D36C}">
      <dsp:nvSpPr>
        <dsp:cNvPr id="0" name=""/>
        <dsp:cNvSpPr/>
      </dsp:nvSpPr>
      <dsp:spPr>
        <a:xfrm>
          <a:off x="2968" y="161802"/>
          <a:ext cx="2354764" cy="14128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Summary:</a:t>
          </a:r>
        </a:p>
      </dsp:txBody>
      <dsp:txXfrm>
        <a:off x="2968" y="161802"/>
        <a:ext cx="2354764" cy="1412858"/>
      </dsp:txXfrm>
    </dsp:sp>
    <dsp:sp modelId="{25962F97-48F7-D349-A792-5E43A4787C41}">
      <dsp:nvSpPr>
        <dsp:cNvPr id="0" name=""/>
        <dsp:cNvSpPr/>
      </dsp:nvSpPr>
      <dsp:spPr>
        <a:xfrm>
          <a:off x="2593209" y="161802"/>
          <a:ext cx="2354764" cy="141285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﻿﻿Size and quality are the strongest overall drivers of home value.</a:t>
          </a:r>
        </a:p>
      </dsp:txBody>
      <dsp:txXfrm>
        <a:off x="2593209" y="161802"/>
        <a:ext cx="2354764" cy="1412858"/>
      </dsp:txXfrm>
    </dsp:sp>
    <dsp:sp modelId="{7CCAF54E-E75D-E84C-930A-90B01D3E6FA3}">
      <dsp:nvSpPr>
        <dsp:cNvPr id="0" name=""/>
        <dsp:cNvSpPr/>
      </dsp:nvSpPr>
      <dsp:spPr>
        <a:xfrm>
          <a:off x="5183450" y="161802"/>
          <a:ext cx="2354764" cy="141285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﻿﻿PCA reveals two dominant dimensions: size/capacity and layout/configuration.</a:t>
          </a:r>
        </a:p>
      </dsp:txBody>
      <dsp:txXfrm>
        <a:off x="5183450" y="161802"/>
        <a:ext cx="2354764" cy="1412858"/>
      </dsp:txXfrm>
    </dsp:sp>
    <dsp:sp modelId="{3B25890A-4242-074F-8FA6-73E87CB18547}">
      <dsp:nvSpPr>
        <dsp:cNvPr id="0" name=""/>
        <dsp:cNvSpPr/>
      </dsp:nvSpPr>
      <dsp:spPr>
        <a:xfrm>
          <a:off x="7773692" y="161802"/>
          <a:ext cx="2354764" cy="141285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﻿﻿K-Means identifies three meaningful market segments in the Ames dataset.</a:t>
          </a:r>
        </a:p>
      </dsp:txBody>
      <dsp:txXfrm>
        <a:off x="7773692" y="161802"/>
        <a:ext cx="2354764" cy="1412858"/>
      </dsp:txXfrm>
    </dsp:sp>
    <dsp:sp modelId="{5313F3C1-98DC-0242-A777-142E9A9F014F}">
      <dsp:nvSpPr>
        <dsp:cNvPr id="0" name=""/>
        <dsp:cNvSpPr/>
      </dsp:nvSpPr>
      <dsp:spPr>
        <a:xfrm>
          <a:off x="2968" y="1810137"/>
          <a:ext cx="2354764" cy="141285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Future Extensions:</a:t>
          </a:r>
        </a:p>
      </dsp:txBody>
      <dsp:txXfrm>
        <a:off x="2968" y="1810137"/>
        <a:ext cx="2354764" cy="1412858"/>
      </dsp:txXfrm>
    </dsp:sp>
    <dsp:sp modelId="{EC0A4265-E882-0941-8F60-B17209C6471F}">
      <dsp:nvSpPr>
        <dsp:cNvPr id="0" name=""/>
        <dsp:cNvSpPr/>
      </dsp:nvSpPr>
      <dsp:spPr>
        <a:xfrm>
          <a:off x="2593209" y="1810137"/>
          <a:ext cx="2354764" cy="14128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﻿﻿Add predictive models (Lasso, RF)</a:t>
          </a:r>
        </a:p>
      </dsp:txBody>
      <dsp:txXfrm>
        <a:off x="2593209" y="1810137"/>
        <a:ext cx="2354764" cy="1412858"/>
      </dsp:txXfrm>
    </dsp:sp>
    <dsp:sp modelId="{F7F714FE-B96F-FF40-A0C7-D65373ADE05B}">
      <dsp:nvSpPr>
        <dsp:cNvPr id="0" name=""/>
        <dsp:cNvSpPr/>
      </dsp:nvSpPr>
      <dsp:spPr>
        <a:xfrm>
          <a:off x="5183450" y="1810137"/>
          <a:ext cx="2354764" cy="141285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﻿﻿Include categorical encodings for better clusters</a:t>
          </a:r>
        </a:p>
      </dsp:txBody>
      <dsp:txXfrm>
        <a:off x="5183450" y="1810137"/>
        <a:ext cx="2354764" cy="1412858"/>
      </dsp:txXfrm>
    </dsp:sp>
    <dsp:sp modelId="{AF788599-0D98-DB4E-89CE-7243BD720C9B}">
      <dsp:nvSpPr>
        <dsp:cNvPr id="0" name=""/>
        <dsp:cNvSpPr/>
      </dsp:nvSpPr>
      <dsp:spPr>
        <a:xfrm>
          <a:off x="7773692" y="1810137"/>
          <a:ext cx="2354764" cy="141285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﻿﻿Explore spatial modeling and time-based pricing</a:t>
          </a:r>
        </a:p>
      </dsp:txBody>
      <dsp:txXfrm>
        <a:off x="7773692" y="1810137"/>
        <a:ext cx="2354764" cy="14128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9CAFF-FDBD-564F-A7E9-6E6F78E0BD2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8470D-C96E-DE4E-A0C1-AAAC38E02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7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8470D-C96E-DE4E-A0C1-AAAC38E022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09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8470D-C96E-DE4E-A0C1-AAAC38E022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43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0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1.png"/><Relationship Id="rId9" Type="http://schemas.microsoft.com/office/2007/relationships/diagramDrawing" Target="../diagrams/drawing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C895F7-4E59-40FB-87DD-ACE47F94C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gures of houses in different position and sizes">
            <a:extLst>
              <a:ext uri="{FF2B5EF4-FFF2-40B4-BE49-F238E27FC236}">
                <a16:creationId xmlns:a16="http://schemas.microsoft.com/office/drawing/2014/main" id="{5FE680DB-2511-EFB5-0A92-0002488302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4C720E-710D-44F8-A8D7-2BAA61E1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893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25A63C-C710-A316-069D-A1EA418A4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>
            <a:normAutofit/>
          </a:bodyPr>
          <a:lstStyle/>
          <a:p>
            <a:r>
              <a:rPr lang="en-US" b="1" i="1" dirty="0"/>
              <a:t>Predicting Housing Prices with Course Methods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42723-7FAE-5E14-F0EA-FEC8DBAFD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>
            <a:normAutofit/>
          </a:bodyPr>
          <a:lstStyle/>
          <a:p>
            <a:r>
              <a:rPr lang="en-US" dirty="0"/>
              <a:t>By Daniel Phelps</a:t>
            </a:r>
          </a:p>
        </p:txBody>
      </p:sp>
    </p:spTree>
    <p:extLst>
      <p:ext uri="{BB962C8B-B14F-4D97-AF65-F5344CB8AC3E}">
        <p14:creationId xmlns:p14="http://schemas.microsoft.com/office/powerpoint/2010/main" val="846844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7FEDF-47AF-BD0B-932E-5CA8D751C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>
            <a:normAutofit/>
          </a:bodyPr>
          <a:lstStyle/>
          <a:p>
            <a:r>
              <a:rPr lang="en-US" dirty="0"/>
              <a:t>Motivation</a:t>
            </a:r>
          </a:p>
        </p:txBody>
      </p:sp>
      <p:pic>
        <p:nvPicPr>
          <p:cNvPr id="5" name="Picture 4" descr="A midsection of a person holding a miniature house">
            <a:extLst>
              <a:ext uri="{FF2B5EF4-FFF2-40B4-BE49-F238E27FC236}">
                <a16:creationId xmlns:a16="http://schemas.microsoft.com/office/drawing/2014/main" id="{AB78955B-6F2D-439A-78D4-DF93A99300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43" r="14472" b="-1"/>
          <a:stretch>
            <a:fillRect/>
          </a:stretch>
        </p:blipFill>
        <p:spPr>
          <a:xfrm>
            <a:off x="20" y="975"/>
            <a:ext cx="7552924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48EB5-4559-18C7-96D2-C052A7B4D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06" y="2251587"/>
            <a:ext cx="3706762" cy="39722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Problem: Home prices depend on many factors (size, quality, age, neighborhood). It is hard to understand which characteristics matter most and whether natural market segments exist.</a:t>
            </a:r>
          </a:p>
          <a:p>
            <a:pPr marL="0" indent="0">
              <a:buNone/>
            </a:pPr>
            <a:r>
              <a:rPr lang="en-US" dirty="0"/>
              <a:t>Why this matters:</a:t>
            </a:r>
          </a:p>
          <a:p>
            <a:r>
              <a:rPr lang="en-US" dirty="0"/>
              <a:t>Better understanding helps buyers, sellers, and analysts see what features truly drive value and simplifies complex housing data.</a:t>
            </a:r>
          </a:p>
        </p:txBody>
      </p:sp>
    </p:spTree>
    <p:extLst>
      <p:ext uri="{BB962C8B-B14F-4D97-AF65-F5344CB8AC3E}">
        <p14:creationId xmlns:p14="http://schemas.microsoft.com/office/powerpoint/2010/main" val="3274772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BFF6-E8F3-8344-A1E1-9F49E9A2F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r>
              <a:rPr lang="en-US" dirty="0"/>
              <a:t>Dataset &amp; Key Features</a:t>
            </a:r>
          </a:p>
        </p:txBody>
      </p:sp>
      <p:pic>
        <p:nvPicPr>
          <p:cNvPr id="5" name="Picture 4" descr="House line vector icons">
            <a:extLst>
              <a:ext uri="{FF2B5EF4-FFF2-40B4-BE49-F238E27FC236}">
                <a16:creationId xmlns:a16="http://schemas.microsoft.com/office/drawing/2014/main" id="{DDE46AF1-B3D1-33F6-9D52-275B8310E8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38" r="22502" b="-2"/>
          <a:stretch>
            <a:fillRect/>
          </a:stretch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FDAD2-FEC6-A470-FC6E-F9D6D7CC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Dataset: Ames, Iowa Housing (Kaggle)</a:t>
            </a:r>
          </a:p>
          <a:p>
            <a:r>
              <a:rPr lang="en-US" dirty="0"/>
              <a:t>﻿﻿1,460 homes</a:t>
            </a:r>
          </a:p>
          <a:p>
            <a:pPr marL="0" indent="0">
              <a:buNone/>
            </a:pPr>
            <a:r>
              <a:rPr lang="en-US" dirty="0"/>
              <a:t>Target: </a:t>
            </a:r>
            <a:r>
              <a:rPr lang="en-US" dirty="0" err="1"/>
              <a:t>SalePrice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﻿﻿Features: living area, basement size, garage capacity, rooms, baths, quality scores, and neighborhood indicators</a:t>
            </a:r>
          </a:p>
          <a:p>
            <a:pPr marL="0" indent="0">
              <a:buNone/>
            </a:pPr>
            <a:r>
              <a:rPr lang="en-US" dirty="0"/>
              <a:t>Preprocessing:</a:t>
            </a:r>
          </a:p>
          <a:p>
            <a:r>
              <a:rPr lang="en-US" dirty="0"/>
              <a:t>﻿﻿Log-transform </a:t>
            </a:r>
            <a:r>
              <a:rPr lang="en-US" dirty="0" err="1"/>
              <a:t>SalePrice</a:t>
            </a:r>
            <a:endParaRPr lang="en-US" dirty="0"/>
          </a:p>
          <a:p>
            <a:r>
              <a:rPr lang="en-US" dirty="0"/>
              <a:t>﻿﻿Standardized numeric features (z-scores)</a:t>
            </a:r>
          </a:p>
          <a:p>
            <a:r>
              <a:rPr lang="en-US" dirty="0"/>
              <a:t>﻿﻿Focused on 35 numeric variables for PCA + K-Means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79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D2FAF-0DA3-1737-8D99-D53ACBF96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Methods: EDA + PCA + K-Means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C3500C-B823-FAFB-ADB1-E55786FFA4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9921038"/>
              </p:ext>
            </p:extLst>
          </p:nvPr>
        </p:nvGraphicFramePr>
        <p:xfrm>
          <a:off x="4808601" y="901700"/>
          <a:ext cx="6545199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6524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2D4F2-D057-80C5-7E76-A6CA4316D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255" y="1030288"/>
            <a:ext cx="4099947" cy="1035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Key Result #1: Price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BA1E6-75DD-D8E1-FB1E-1FFC3CD61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255" y="2142067"/>
            <a:ext cx="4099947" cy="364913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Finding:</a:t>
            </a:r>
          </a:p>
          <a:p>
            <a:pPr>
              <a:lnSpc>
                <a:spcPct val="90000"/>
              </a:lnSpc>
            </a:pPr>
            <a:r>
              <a:rPr lang="en-US" dirty="0"/>
              <a:t>﻿﻿Log(</a:t>
            </a:r>
            <a:r>
              <a:rPr lang="en-US" dirty="0" err="1"/>
              <a:t>SalePrice</a:t>
            </a:r>
            <a:r>
              <a:rPr lang="en-US" dirty="0"/>
              <a:t>) is approximately normal -&gt; better modeling</a:t>
            </a:r>
          </a:p>
          <a:p>
            <a:pPr>
              <a:lnSpc>
                <a:spcPct val="90000"/>
              </a:lnSpc>
            </a:pPr>
            <a:r>
              <a:rPr lang="en-US" dirty="0"/>
              <a:t>﻿﻿Quality strongly drives price: homes rated 7-9 show big jumps in value</a:t>
            </a:r>
          </a:p>
          <a:p>
            <a:pPr>
              <a:lnSpc>
                <a:spcPct val="90000"/>
              </a:lnSpc>
            </a:pPr>
            <a:r>
              <a:rPr lang="en-US" dirty="0"/>
              <a:t>﻿﻿Neighborhoods show clear layers: some are consistently higher priced</a:t>
            </a:r>
          </a:p>
        </p:txBody>
      </p:sp>
      <p:pic>
        <p:nvPicPr>
          <p:cNvPr id="7" name="Picture 6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83D9EE56-8563-D5A7-E4DE-4BFF97A3E2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08"/>
          <a:stretch>
            <a:fillRect/>
          </a:stretch>
        </p:blipFill>
        <p:spPr>
          <a:xfrm>
            <a:off x="6964681" y="639098"/>
            <a:ext cx="3640147" cy="2692424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A graph with black and white lines&#10;&#10;AI-generated content may be incorrect.">
            <a:extLst>
              <a:ext uri="{FF2B5EF4-FFF2-40B4-BE49-F238E27FC236}">
                <a16:creationId xmlns:a16="http://schemas.microsoft.com/office/drawing/2014/main" id="{B0756246-8773-46EE-CD5B-C2C63F1EF4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r="1777" b="-4"/>
          <a:stretch>
            <a:fillRect/>
          </a:stretch>
        </p:blipFill>
        <p:spPr>
          <a:xfrm>
            <a:off x="6734795" y="3522111"/>
            <a:ext cx="4099919" cy="2692424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5817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E2B2C-3037-FEED-1753-A178D5C67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Key Result #2: PCA Patterns</a:t>
            </a:r>
          </a:p>
        </p:txBody>
      </p:sp>
      <p:pic>
        <p:nvPicPr>
          <p:cNvPr id="5" name="Picture 4" descr="A graph with colored dots&#10;&#10;AI-generated content may be incorrect.">
            <a:extLst>
              <a:ext uri="{FF2B5EF4-FFF2-40B4-BE49-F238E27FC236}">
                <a16:creationId xmlns:a16="http://schemas.microsoft.com/office/drawing/2014/main" id="{7F4FC0AD-C3FB-433E-0600-026A4F3C5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4" y="1157342"/>
            <a:ext cx="6897878" cy="4552598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CD687-1FFF-3FBB-3CB6-8F9F8E5E0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06" y="2251587"/>
            <a:ext cx="3706762" cy="3972232"/>
          </a:xfrm>
        </p:spPr>
        <p:txBody>
          <a:bodyPr>
            <a:normAutofit/>
          </a:bodyPr>
          <a:lstStyle/>
          <a:p>
            <a:r>
              <a:rPr lang="en-US" dirty="0"/>
              <a:t>PC1 = Home Size + Capacity</a:t>
            </a:r>
          </a:p>
          <a:p>
            <a:r>
              <a:rPr lang="en-US" dirty="0"/>
              <a:t>Largest loadings: living area, garage area, basement, rooms</a:t>
            </a:r>
          </a:p>
          <a:p>
            <a:r>
              <a:rPr lang="en-US" dirty="0"/>
              <a:t>PC2 = Layout / Room configuration</a:t>
            </a:r>
          </a:p>
          <a:p>
            <a:r>
              <a:rPr lang="en-US" dirty="0"/>
              <a:t>Loadings: bedrooms, finished basement, bathrooms</a:t>
            </a:r>
          </a:p>
          <a:p>
            <a:pPr marL="0" indent="0">
              <a:buNone/>
            </a:pPr>
            <a:r>
              <a:rPr lang="en-US" dirty="0"/>
              <a:t>Insight:</a:t>
            </a:r>
          </a:p>
          <a:p>
            <a:r>
              <a:rPr lang="en-US" dirty="0"/>
              <a:t>High-priced and high-quality homes shift toward the right side of PC1 (bigger + better).</a:t>
            </a:r>
          </a:p>
        </p:txBody>
      </p:sp>
    </p:spTree>
    <p:extLst>
      <p:ext uri="{BB962C8B-B14F-4D97-AF65-F5344CB8AC3E}">
        <p14:creationId xmlns:p14="http://schemas.microsoft.com/office/powerpoint/2010/main" val="3334527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16F08-25D5-B277-C4F9-5196FB7B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255" y="1030288"/>
            <a:ext cx="4099947" cy="1035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Slide 6 - Key Result #3: Clustering</a:t>
            </a:r>
          </a:p>
        </p:txBody>
      </p:sp>
      <p:pic>
        <p:nvPicPr>
          <p:cNvPr id="5" name="Picture 4" descr="A graph with colored dots&#10;&#10;AI-generated content may be incorrect.">
            <a:extLst>
              <a:ext uri="{FF2B5EF4-FFF2-40B4-BE49-F238E27FC236}">
                <a16:creationId xmlns:a16="http://schemas.microsoft.com/office/drawing/2014/main" id="{E1100CDF-4FB8-AA73-2017-17236E03F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41389"/>
            <a:ext cx="5415816" cy="3872307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336A04-EFEE-CFB5-B269-3BA69865F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694" y="4486535"/>
            <a:ext cx="6024680" cy="1156276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7DDCF4E7-A05E-5AE1-0835-04A9911248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328812"/>
              </p:ext>
            </p:extLst>
          </p:nvPr>
        </p:nvGraphicFramePr>
        <p:xfrm>
          <a:off x="499353" y="2178579"/>
          <a:ext cx="5172398" cy="4555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805062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414F48-0803-5AC1-1F4C-1ED6B5B5A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Challenge &amp;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20E172-18CA-6CF1-97A3-BCF2C4ED66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542222"/>
              </p:ext>
            </p:extLst>
          </p:nvPr>
        </p:nvGraphicFramePr>
        <p:xfrm>
          <a:off x="4808601" y="901700"/>
          <a:ext cx="6545199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21733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F5174-7158-CDEC-5569-F39991BA9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CFB34D-9EDE-458A-0DFC-5169C0B6BB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0047955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62128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C946AC-2072-4946-A2B8-39F09D094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48C8C8-F348-4D00-852A-26DD9EBCC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55"/>
          <a:stretch/>
        </p:blipFill>
        <p:spPr>
          <a:xfrm>
            <a:off x="0" y="0"/>
            <a:ext cx="6026763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F6B297-77A1-825D-E49C-F2A532D4F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76" y="2032000"/>
            <a:ext cx="4513792" cy="28193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Thank You</a:t>
            </a:r>
          </a:p>
        </p:txBody>
      </p:sp>
      <p:sp useBgFill="1">
        <p:nvSpPr>
          <p:cNvPr id="15" name="Freeform 5">
            <a:extLst>
              <a:ext uri="{FF2B5EF4-FFF2-40B4-BE49-F238E27FC236}">
                <a16:creationId xmlns:a16="http://schemas.microsoft.com/office/drawing/2014/main" id="{559FD8B5-8CC4-4CFE-BD2A-1216B1F2C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9ECF13F4-3D2A-4F2E-9BBD-3038670D2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660E16-DCC0-4B6C-8E84-4C292580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9130F79-611E-4458-B53E-36A25721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EA78691-46E9-469A-921B-9D16933E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A4AA196-3090-4283-ADF0-893F81085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D33794-9D71-4B08-AE11-8B589EFBA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AFBF0E-867E-4181-93DF-9A13F334B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7EA8258-0459-4037-BABC-B1A0A5D70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8BB355F-363A-4046-90AF-3DDB7AA18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9334308-B9EC-41CF-8B6C-23FB134BA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0781133-0656-4918-BE6A-703C148ED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B4F93AD-8044-447B-8CAC-8A0697160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AA78689-5B7A-4420-A3DC-0EA081583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09CC934-4D78-4334-8B7F-4D0C13D6C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68DA411-6F43-42CF-8A08-B2871E382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417563A-04A5-4952-AA6D-E503558C5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A41B232-E630-4AC7-9A97-763529D70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EABA1A2-F7BA-4FB5-AD0A-A4DBBCF6F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EA99E51-908F-4D65-AC2B-A8E75A1FE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F2D126B-7D1C-4D2C-97D5-2D8C686B7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B20164-1C4E-4FA3-A2E5-389E74077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54E7AD9-228F-47CD-A598-CB579B489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7D2B81A-6082-4668-8AA7-F2757C8EC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469BD5F-3BFE-4BA0-A24F-7F80A73B8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24D532A-F49F-4BB9-AAA6-8B2B89CB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B2224AE-40A4-483D-991E-9490A01B7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D3DE117-F3FA-4657-B4A7-40DE41238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85EA1EB-1126-463C-AD87-4FB126C6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0336723-7646-4B25-9EE9-519CC8334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52B6D8B-5579-4262-9376-B702382B0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07893BD-D1AE-48C1-91A9-D47879376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C6FEEA5-8E66-4C31-92AD-01305FF4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3E18335-591C-4354-9390-DD371BB3F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51098D0-C2B4-4D61-92D5-C81DDBDA2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EACD9C3-3E01-47CF-BC68-BDAE22E30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0A5C950-6480-44E0-9D50-F193147D5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68F1BDE-24EB-4308-AB69-F353C8598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83E12EF-845B-41E6-BA82-F6CD46C0F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646EE72-4D70-46B4-B655-74722AAC2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2BB073B-89FD-4B47-814B-A8EE7A1EE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EE25488-63A9-43E5-A03F-2E628C3B2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BE7FDEE-BD70-4D8F-B5CE-4D03F1D00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039673A-8522-4BFC-B8B2-7F2FEAED4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7AB08C4-AF01-4D1D-90EA-A4113CFF9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C8E7B06-FF45-4365-9DF4-E8E315A5B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8F00765-F5EC-427C-A7A1-CDFA040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FE1EF8A-C81D-4879-9142-3697CA0BC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80C0B62-6F07-4DD2-B308-F3C29F29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9C7C8CB-2D13-4138-B3C1-B78EC19B5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EB1BC7E-04BC-423C-843D-7C149C25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8BA62C3-B17C-4AD0-B585-1C42ED74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B6F8BD1-22F9-4EE2-93C7-F859F3B99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173F2AA-33AE-4A43-AFA9-50C60D6F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6339DB1-5BB0-42C5-B12D-7555AD403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413BF1A-CE02-41EB-8977-EBE39AE0D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899680C-3DC7-4B71-8D34-7EE8306FE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3B57EA5-419A-4EE0-BB93-356B12F6D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7A79B15-73B1-417F-A985-25FBC893F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66DE9DC-92E2-44D8-B7D0-D1295DD8F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A9A1F3CD-685D-4541-8715-91E39B1E2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63E90F9-BD80-4805-A68E-CA56D5249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014402D-979B-4D18-9E85-4D8F6C986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A04AE49-4B0B-4908-B1DB-480F568D2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293E6AC-4EF0-4B88-AC7E-BCB11201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344B49D-AFCD-4426-AC08-F3128282C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3B776AB-0884-47E4-AC8D-69A19A610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1EC5397-87DB-4803-855B-44DFE9BBB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8EF0075-59DA-4C16-BF01-C65EE2DDD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ABF3642-CC62-4EA5-8A59-1AFF97A56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7715913-AE6D-4FFC-A6EC-E7EE027D2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6B78CB6-17D0-445E-A523-FD18D3BE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83E7655-41DA-4DFA-9DEC-FD37064F0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E953697-F897-4DE0-B735-80C721129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7C7CED19-0566-4D81-A59A-5A3561F1B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E247A59-B18F-4331-BC8D-07C3DA5E8E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21C3132-6A07-4EB5-A00C-2176067C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067D677-3FA9-4187-B1CA-F6298A917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2E9FC80-B3E8-47CE-862C-9F6E9E598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D383F3C-A57C-472A-9E05-CCD8A4F8E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534D376-6ABA-4DF9-BBEA-EB5A88180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EC491AEA-8368-24F9-1AB2-8BDF0B950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5001" y="2191639"/>
            <a:ext cx="3686910" cy="368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343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1541</TotalTime>
  <Words>510</Words>
  <Application>Microsoft Macintosh PowerPoint</Application>
  <PresentationFormat>Widescreen</PresentationFormat>
  <Paragraphs>65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Celestial</vt:lpstr>
      <vt:lpstr>Predicting Housing Prices with Course Methods</vt:lpstr>
      <vt:lpstr>Motivation</vt:lpstr>
      <vt:lpstr>Dataset &amp; Key Features</vt:lpstr>
      <vt:lpstr>Methods: EDA + PCA + K-Means</vt:lpstr>
      <vt:lpstr>Key Result #1: Price Patterns</vt:lpstr>
      <vt:lpstr>Key Result #2: PCA Patterns</vt:lpstr>
      <vt:lpstr>Slide 6 - Key Result #3: Clustering</vt:lpstr>
      <vt:lpstr>Challenge &amp; Solution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Phelps, Daniel</dc:creator>
  <cp:lastModifiedBy>Phelps, Daniel</cp:lastModifiedBy>
  <cp:revision>4</cp:revision>
  <dcterms:created xsi:type="dcterms:W3CDTF">2025-12-01T19:24:31Z</dcterms:created>
  <dcterms:modified xsi:type="dcterms:W3CDTF">2025-12-02T21:06:14Z</dcterms:modified>
</cp:coreProperties>
</file>